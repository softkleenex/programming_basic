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  <p:sldMasterId id="2147483672" r:id="rId2"/>
  </p:sldMasterIdLst>
  <p:notesMasterIdLst>
    <p:notesMasterId r:id="rId7"/>
  </p:notesMasterIdLst>
  <p:sldIdLst>
    <p:sldId id="750" r:id="rId3"/>
    <p:sldId id="752" r:id="rId4"/>
    <p:sldId id="751" r:id="rId5"/>
    <p:sldId id="753" r:id="rId6"/>
  </p:sldIdLst>
  <p:sldSz cx="12192000" cy="6858000"/>
  <p:notesSz cx="6858000" cy="9144000"/>
  <p:custDataLst>
    <p:tags r:id="rId8"/>
  </p:custData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82" userDrawn="1">
          <p15:clr>
            <a:srgbClr val="A4A3A4"/>
          </p15:clr>
        </p15:guide>
        <p15:guide id="2" orient="horz" pos="134" userDrawn="1">
          <p15:clr>
            <a:srgbClr val="A4A3A4"/>
          </p15:clr>
        </p15:guide>
        <p15:guide id="3" orient="horz" pos="710" userDrawn="1">
          <p15:clr>
            <a:srgbClr val="A4A3A4"/>
          </p15:clr>
        </p15:guide>
        <p15:guide id="4" orient="horz" pos="855" userDrawn="1">
          <p15:clr>
            <a:srgbClr val="A4A3A4"/>
          </p15:clr>
        </p15:guide>
        <p15:guide id="5" pos="3840" userDrawn="1">
          <p15:clr>
            <a:srgbClr val="A4A3A4"/>
          </p15:clr>
        </p15:guide>
        <p15:guide id="6" pos="7532" userDrawn="1">
          <p15:clr>
            <a:srgbClr val="A4A3A4"/>
          </p15:clr>
        </p15:guide>
        <p15:guide id="7" pos="1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FF"/>
    <a:srgbClr val="A0A1A7"/>
    <a:srgbClr val="0432FF"/>
    <a:srgbClr val="FFFFD2"/>
    <a:srgbClr val="3677BB"/>
    <a:srgbClr val="098100"/>
    <a:srgbClr val="A4B543"/>
    <a:srgbClr val="05325B"/>
    <a:srgbClr val="FFC59C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74" autoAdjust="0"/>
    <p:restoredTop sz="95139" autoAdjust="0"/>
  </p:normalViewPr>
  <p:slideViewPr>
    <p:cSldViewPr snapToGrid="0">
      <p:cViewPr>
        <p:scale>
          <a:sx n="160" d="100"/>
          <a:sy n="160" d="100"/>
        </p:scale>
        <p:origin x="776" y="1752"/>
      </p:cViewPr>
      <p:guideLst>
        <p:guide orient="horz" pos="2282"/>
        <p:guide orient="horz" pos="134"/>
        <p:guide orient="horz" pos="710"/>
        <p:guide orient="horz" pos="855"/>
        <p:guide pos="3840"/>
        <p:guide pos="7532"/>
        <p:guide pos="156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81" d="100"/>
        <a:sy n="81" d="100"/>
      </p:scale>
      <p:origin x="0" y="0"/>
    </p:cViewPr>
  </p:sorterViewPr>
  <p:notesViewPr>
    <p:cSldViewPr snapToGrid="0">
      <p:cViewPr varScale="1">
        <p:scale>
          <a:sx n="78" d="100"/>
          <a:sy n="78" d="100"/>
        </p:scale>
        <p:origin x="-1218" y="-10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3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8F8230-0520-4083-807F-7B220B43BFBD}" type="datetimeFigureOut">
              <a:rPr lang="ko-KR" altLang="en-US" smtClean="0"/>
              <a:pPr/>
              <a:t>2025. 9. 24.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030CEF-DD1E-42F7-A72F-FEF9E199F7A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48080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030CEF-DD1E-42F7-A72F-FEF9E199F7AB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33171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030CEF-DD1E-42F7-A72F-FEF9E199F7AB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18882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030CEF-DD1E-42F7-A72F-FEF9E199F7AB}" type="slidenum">
              <a:rPr lang="ko-KR" altLang="en-US" smtClean="0"/>
              <a:pPr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95073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030CEF-DD1E-42F7-A72F-FEF9E199F7AB}" type="slidenum">
              <a:rPr lang="ko-KR" altLang="en-US" smtClean="0"/>
              <a:pPr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8335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7.png"/><Relationship Id="rId3" Type="http://schemas.microsoft.com/office/2007/relationships/hdphoto" Target="../media/hdphoto1.wdp"/><Relationship Id="rId7" Type="http://schemas.microsoft.com/office/2007/relationships/hdphoto" Target="../media/hdphoto3.wdp"/><Relationship Id="rId12" Type="http://schemas.microsoft.com/office/2007/relationships/hdphoto" Target="../media/hdphoto5.wdp"/><Relationship Id="rId2" Type="http://schemas.openxmlformats.org/officeDocument/2006/relationships/image" Target="../media/image1.png"/><Relationship Id="rId16" Type="http://schemas.microsoft.com/office/2007/relationships/hdphoto" Target="../media/hdphoto7.wdp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11" Type="http://schemas.openxmlformats.org/officeDocument/2006/relationships/image" Target="../media/image6.png"/><Relationship Id="rId5" Type="http://schemas.microsoft.com/office/2007/relationships/hdphoto" Target="../media/hdphoto2.wdp"/><Relationship Id="rId15" Type="http://schemas.openxmlformats.org/officeDocument/2006/relationships/image" Target="../media/image8.png"/><Relationship Id="rId10" Type="http://schemas.openxmlformats.org/officeDocument/2006/relationships/image" Target="../media/image5.emf"/><Relationship Id="rId4" Type="http://schemas.openxmlformats.org/officeDocument/2006/relationships/image" Target="../media/image2.png"/><Relationship Id="rId9" Type="http://schemas.microsoft.com/office/2007/relationships/hdphoto" Target="../media/hdphoto4.wdp"/><Relationship Id="rId14" Type="http://schemas.microsoft.com/office/2007/relationships/hdphoto" Target="../media/hdphoto6.wdp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2294A485-D866-7899-DDB5-FF62F5BC614B}"/>
              </a:ext>
            </a:extLst>
          </p:cNvPr>
          <p:cNvSpPr/>
          <p:nvPr userDrawn="1"/>
        </p:nvSpPr>
        <p:spPr>
          <a:xfrm>
            <a:off x="0" y="0"/>
            <a:ext cx="12192000" cy="4055469"/>
          </a:xfrm>
          <a:prstGeom prst="rect">
            <a:avLst/>
          </a:prstGeom>
          <a:solidFill>
            <a:srgbClr val="1E75B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3" name="날짜 개체 틀 3">
            <a:extLst>
              <a:ext uri="{FF2B5EF4-FFF2-40B4-BE49-F238E27FC236}">
                <a16:creationId xmlns:a16="http://schemas.microsoft.com/office/drawing/2014/main" id="{EC812E5E-80ED-10A8-4C1E-F46F5A1B540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1553" y="6356352"/>
            <a:ext cx="2959847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486FD63E-ED41-634F-9AC1-A2DE1FDD28EE}" type="datetime1">
              <a:rPr lang="ko-KR" altLang="en-US" smtClean="0"/>
              <a:pPr/>
              <a:t>2025. 9. 24.</a:t>
            </a:fld>
            <a:endParaRPr lang="en-US"/>
          </a:p>
        </p:txBody>
      </p:sp>
      <p:sp>
        <p:nvSpPr>
          <p:cNvPr id="4" name="바닥글 개체 틀 4">
            <a:extLst>
              <a:ext uri="{FF2B5EF4-FFF2-40B4-BE49-F238E27FC236}">
                <a16:creationId xmlns:a16="http://schemas.microsoft.com/office/drawing/2014/main" id="{8E6587E8-4D43-0890-A6DA-66F1193D7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sz="1200" b="1" i="0">
                <a:latin typeface="Apple SD Gothic Neo" panose="02000300000000000000" pitchFamily="2" charset="-127"/>
                <a:ea typeface="Apple SD Gothic Neo" panose="02000300000000000000" pitchFamily="2" charset="-127"/>
              </a:defRPr>
            </a:lvl1pPr>
          </a:lstStyle>
          <a:p>
            <a:endParaRPr lang="en-US" dirty="0"/>
          </a:p>
        </p:txBody>
      </p:sp>
      <p:pic>
        <p:nvPicPr>
          <p:cNvPr id="6" name="그림 5" descr="블랙, 어둠이(가) 표시된 사진&#10;&#10;자동 생성된 설명">
            <a:extLst>
              <a:ext uri="{FF2B5EF4-FFF2-40B4-BE49-F238E27FC236}">
                <a16:creationId xmlns:a16="http://schemas.microsoft.com/office/drawing/2014/main" id="{AD4C8FAC-B021-447A-E583-89B7DA73BE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 trans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7825" y="518263"/>
            <a:ext cx="749462" cy="749462"/>
          </a:xfrm>
          <a:prstGeom prst="rect">
            <a:avLst/>
          </a:prstGeom>
          <a:ln>
            <a:noFill/>
          </a:ln>
        </p:spPr>
      </p:pic>
      <p:pic>
        <p:nvPicPr>
          <p:cNvPr id="7" name="그림 6" descr="블랙, 어둠이(가) 표시된 사진&#10;&#10;자동 생성된 설명">
            <a:extLst>
              <a:ext uri="{FF2B5EF4-FFF2-40B4-BE49-F238E27FC236}">
                <a16:creationId xmlns:a16="http://schemas.microsoft.com/office/drawing/2014/main" id="{05B75466-BD27-4166-6D83-44A63E7FC33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 amt="35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Photocopy trans="1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0637" y="449466"/>
            <a:ext cx="1145261" cy="1145261"/>
          </a:xfrm>
          <a:prstGeom prst="rect">
            <a:avLst/>
          </a:prstGeom>
          <a:ln>
            <a:noFill/>
          </a:ln>
        </p:spPr>
      </p:pic>
      <p:pic>
        <p:nvPicPr>
          <p:cNvPr id="8" name="그림 7" descr="블랙, 어둠이(가) 표시된 사진&#10;&#10;자동 생성된 설명">
            <a:extLst>
              <a:ext uri="{FF2B5EF4-FFF2-40B4-BE49-F238E27FC236}">
                <a16:creationId xmlns:a16="http://schemas.microsoft.com/office/drawing/2014/main" id="{A2B6AC5B-8AE9-C01D-5489-B9F945082278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alphaModFix amt="35000"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artisticPhotocopy trans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589" y="2123957"/>
            <a:ext cx="1016000" cy="1016000"/>
          </a:xfrm>
          <a:prstGeom prst="rect">
            <a:avLst/>
          </a:prstGeom>
          <a:ln>
            <a:noFill/>
          </a:ln>
        </p:spPr>
      </p:pic>
      <p:pic>
        <p:nvPicPr>
          <p:cNvPr id="9" name="그림 8" descr="블랙, 어둠이(가) 표시된 사진&#10;&#10;자동 생성된 설명">
            <a:extLst>
              <a:ext uri="{FF2B5EF4-FFF2-40B4-BE49-F238E27FC236}">
                <a16:creationId xmlns:a16="http://schemas.microsoft.com/office/drawing/2014/main" id="{52B58873-C21C-13AE-6A0A-39FAB718D334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alphaModFix amt="35000"/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artisticPhotocopy trans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8952" y="416140"/>
            <a:ext cx="1094675" cy="1094675"/>
          </a:xfrm>
          <a:prstGeom prst="rect">
            <a:avLst/>
          </a:prstGeom>
          <a:ln>
            <a:noFill/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980C5041-D501-48A7-B31D-3F1E979880DB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lum bright="70000" contrast="-70000"/>
            <a:alphaModFix amt="20000"/>
          </a:blip>
          <a:stretch>
            <a:fillRect/>
          </a:stretch>
        </p:blipFill>
        <p:spPr>
          <a:xfrm>
            <a:off x="1089572" y="384412"/>
            <a:ext cx="992816" cy="1024434"/>
          </a:xfrm>
          <a:prstGeom prst="rect">
            <a:avLst/>
          </a:prstGeom>
          <a:ln>
            <a:noFill/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1CA5321-AF10-2EA5-E38D-E151C287FBB7}"/>
              </a:ext>
            </a:extLst>
          </p:cNvPr>
          <p:cNvSpPr txBox="1"/>
          <p:nvPr userDrawn="1"/>
        </p:nvSpPr>
        <p:spPr>
          <a:xfrm>
            <a:off x="718907" y="1269217"/>
            <a:ext cx="203299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ore-KR" sz="4800" b="1" dirty="0">
                <a:solidFill>
                  <a:srgbClr val="0F68B2"/>
                </a:solidFill>
                <a:latin typeface="Chalkboard" panose="03050602040202020205" pitchFamily="66" charset="0"/>
                <a:ea typeface="Apple SD Gothic Neo" panose="02000300000000000000" pitchFamily="2" charset="-127"/>
                <a:cs typeface="Baloo Chettan 2" panose="03080502040302020200" pitchFamily="66" charset="0"/>
              </a:rPr>
              <a:t>C/C++</a:t>
            </a:r>
            <a:endParaRPr kumimoji="1" lang="ko-Kore-KR" altLang="en-US" sz="4800" b="1" dirty="0">
              <a:solidFill>
                <a:srgbClr val="0F68B2"/>
              </a:solidFill>
              <a:latin typeface="Chalkboard" panose="03050602040202020205" pitchFamily="66" charset="0"/>
              <a:ea typeface="Apple SD Gothic Neo" panose="02000300000000000000" pitchFamily="2" charset="-127"/>
              <a:cs typeface="Baloo Chettan 2" panose="03080502040302020200" pitchFamily="66" charset="0"/>
            </a:endParaRPr>
          </a:p>
        </p:txBody>
      </p:sp>
      <p:pic>
        <p:nvPicPr>
          <p:cNvPr id="12" name="그림 11" descr="스크린샷, 디자인이(가) 표시된 사진&#10;&#10;자동 생성된 설명">
            <a:extLst>
              <a:ext uri="{FF2B5EF4-FFF2-40B4-BE49-F238E27FC236}">
                <a16:creationId xmlns:a16="http://schemas.microsoft.com/office/drawing/2014/main" id="{F98F73C5-2E76-7AF8-19E8-166B08F4CBAD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alphaModFix amt="35000"/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artisticPhotocopy trans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5351" y="599486"/>
            <a:ext cx="1297868" cy="1297868"/>
          </a:xfrm>
          <a:prstGeom prst="rect">
            <a:avLst/>
          </a:prstGeom>
          <a:ln>
            <a:noFill/>
          </a:ln>
        </p:spPr>
      </p:pic>
      <p:sp>
        <p:nvSpPr>
          <p:cNvPr id="13" name="제목 1">
            <a:extLst>
              <a:ext uri="{FF2B5EF4-FFF2-40B4-BE49-F238E27FC236}">
                <a16:creationId xmlns:a16="http://schemas.microsoft.com/office/drawing/2014/main" id="{3197E0B7-E09E-B868-C4DC-BEEF8D0CF9B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5862" y="1607326"/>
            <a:ext cx="10930965" cy="2387600"/>
          </a:xfrm>
          <a:prstGeom prst="rect">
            <a:avLst/>
          </a:prstGeom>
        </p:spPr>
        <p:txBody>
          <a:bodyPr anchor="b"/>
          <a:lstStyle>
            <a:lvl1pPr algn="ctr">
              <a:defRPr sz="5400">
                <a:solidFill>
                  <a:schemeClr val="bg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  <a:br>
              <a:rPr lang="en-US" altLang="ko-KR" dirty="0"/>
            </a:b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1820CA8-B747-E059-9820-6A0C466007A9}"/>
              </a:ext>
            </a:extLst>
          </p:cNvPr>
          <p:cNvSpPr txBox="1"/>
          <p:nvPr userDrawn="1"/>
        </p:nvSpPr>
        <p:spPr>
          <a:xfrm>
            <a:off x="9723442" y="1594727"/>
            <a:ext cx="14727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sz="2400" b="0" dirty="0">
                <a:solidFill>
                  <a:srgbClr val="0F68B2"/>
                </a:solidFill>
                <a:latin typeface="Chalkboard" panose="03050602040202020205" pitchFamily="66" charset="0"/>
                <a:ea typeface="Apple SD Gothic Neo" panose="02000300000000000000" pitchFamily="2" charset="-127"/>
                <a:cs typeface="Baloo Chettan 2" panose="03080502040302020200" pitchFamily="66" charset="0"/>
              </a:rPr>
              <a:t>for, while</a:t>
            </a:r>
            <a:endParaRPr kumimoji="1" lang="ko-Kore-KR" altLang="en-US" sz="2400" b="0" dirty="0">
              <a:solidFill>
                <a:srgbClr val="0F68B2"/>
              </a:solidFill>
              <a:latin typeface="Chalkboard" panose="03050602040202020205" pitchFamily="66" charset="0"/>
              <a:ea typeface="Apple SD Gothic Neo" panose="02000300000000000000" pitchFamily="2" charset="-127"/>
              <a:cs typeface="Baloo Chettan 2" panose="03080502040302020200" pitchFamily="66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C097788-E4D2-6449-AEC3-CE29B588D4A4}"/>
              </a:ext>
            </a:extLst>
          </p:cNvPr>
          <p:cNvSpPr txBox="1"/>
          <p:nvPr userDrawn="1"/>
        </p:nvSpPr>
        <p:spPr>
          <a:xfrm>
            <a:off x="5510257" y="1529290"/>
            <a:ext cx="11297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sz="2000" b="0" dirty="0">
                <a:solidFill>
                  <a:srgbClr val="0F68B2"/>
                </a:solidFill>
                <a:latin typeface="Chalkboard" panose="03050602040202020205" pitchFamily="66" charset="0"/>
                <a:ea typeface="Apple SD Gothic Neo" panose="02000300000000000000" pitchFamily="2" charset="-127"/>
                <a:cs typeface="Baloo Chettan 2" panose="03080502040302020200" pitchFamily="66" charset="0"/>
              </a:rPr>
              <a:t>function</a:t>
            </a:r>
            <a:endParaRPr kumimoji="1" lang="ko-Kore-KR" altLang="en-US" sz="2000" b="0" dirty="0">
              <a:solidFill>
                <a:srgbClr val="0F68B2"/>
              </a:solidFill>
              <a:latin typeface="Chalkboard" panose="03050602040202020205" pitchFamily="66" charset="0"/>
              <a:ea typeface="Apple SD Gothic Neo" panose="02000300000000000000" pitchFamily="2" charset="-127"/>
              <a:cs typeface="Baloo Chettan 2" panose="03080502040302020200" pitchFamily="66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76A8D5A-6FC7-65CD-6788-F8791F042167}"/>
              </a:ext>
            </a:extLst>
          </p:cNvPr>
          <p:cNvSpPr txBox="1"/>
          <p:nvPr userDrawn="1"/>
        </p:nvSpPr>
        <p:spPr>
          <a:xfrm>
            <a:off x="7634340" y="1541207"/>
            <a:ext cx="11368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sz="2400" b="0" dirty="0">
                <a:solidFill>
                  <a:srgbClr val="0F68B2"/>
                </a:solidFill>
                <a:latin typeface="Chalkboard" panose="03050602040202020205" pitchFamily="66" charset="0"/>
                <a:ea typeface="Apple SD Gothic Neo" panose="02000300000000000000" pitchFamily="2" charset="-127"/>
                <a:cs typeface="Baloo Chettan 2" panose="03080502040302020200" pitchFamily="66" charset="0"/>
              </a:rPr>
              <a:t>array[]</a:t>
            </a:r>
            <a:endParaRPr kumimoji="1" lang="ko-Kore-KR" altLang="en-US" sz="2400" b="0" dirty="0">
              <a:solidFill>
                <a:srgbClr val="0F68B2"/>
              </a:solidFill>
              <a:latin typeface="Chalkboard" panose="03050602040202020205" pitchFamily="66" charset="0"/>
              <a:ea typeface="Apple SD Gothic Neo" panose="02000300000000000000" pitchFamily="2" charset="-127"/>
              <a:cs typeface="Baloo Chettan 2" panose="03080502040302020200" pitchFamily="66" charset="0"/>
            </a:endParaRPr>
          </a:p>
        </p:txBody>
      </p:sp>
      <p:sp>
        <p:nvSpPr>
          <p:cNvPr id="17" name="텍스트 개체 틀 82">
            <a:extLst>
              <a:ext uri="{FF2B5EF4-FFF2-40B4-BE49-F238E27FC236}">
                <a16:creationId xmlns:a16="http://schemas.microsoft.com/office/drawing/2014/main" id="{8F1D36B6-FEC0-F268-E795-393B21715D7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00857" y="4142985"/>
            <a:ext cx="11413442" cy="7239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4000" b="1">
                <a:solidFill>
                  <a:srgbClr val="3677BB"/>
                </a:solidFill>
              </a:defRPr>
            </a:lvl1pPr>
          </a:lstStyle>
          <a:p>
            <a:pPr lvl="0"/>
            <a:r>
              <a:rPr kumimoji="1" lang="ko-KR" altLang="en-US" dirty="0"/>
              <a:t>마스터 텍스트 스타일을 편집하려면 클릭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99DDC38-36B3-D0DB-98D1-3672A06682ED}"/>
              </a:ext>
            </a:extLst>
          </p:cNvPr>
          <p:cNvSpPr txBox="1"/>
          <p:nvPr userDrawn="1"/>
        </p:nvSpPr>
        <p:spPr>
          <a:xfrm>
            <a:off x="3202093" y="1234938"/>
            <a:ext cx="11634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sz="2400" b="0" dirty="0">
                <a:solidFill>
                  <a:srgbClr val="0F68B2"/>
                </a:solidFill>
                <a:latin typeface="Chalkboard" panose="03050602040202020205" pitchFamily="66" charset="0"/>
                <a:ea typeface="Apple SD Gothic Neo" panose="02000300000000000000" pitchFamily="2" charset="-127"/>
                <a:cs typeface="Baloo Chettan 2" panose="03080502040302020200" pitchFamily="66" charset="0"/>
              </a:rPr>
              <a:t>pointer</a:t>
            </a:r>
            <a:endParaRPr kumimoji="1" lang="ko-Kore-KR" altLang="en-US" sz="2400" b="0" dirty="0">
              <a:solidFill>
                <a:srgbClr val="0F68B2"/>
              </a:solidFill>
              <a:latin typeface="Chalkboard" panose="03050602040202020205" pitchFamily="66" charset="0"/>
              <a:ea typeface="Apple SD Gothic Neo" panose="02000300000000000000" pitchFamily="2" charset="-127"/>
              <a:cs typeface="Baloo Chettan 2" panose="03080502040302020200" pitchFamily="66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540B387-083F-653C-7043-CB181E503E82}"/>
              </a:ext>
            </a:extLst>
          </p:cNvPr>
          <p:cNvSpPr txBox="1"/>
          <p:nvPr userDrawn="1"/>
        </p:nvSpPr>
        <p:spPr>
          <a:xfrm>
            <a:off x="7966093" y="151366"/>
            <a:ext cx="40230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ore-KR" sz="2400" b="0" dirty="0">
                <a:solidFill>
                  <a:srgbClr val="0F68B2"/>
                </a:solidFill>
                <a:latin typeface="Chalkboard" panose="03050602040202020205" pitchFamily="66" charset="0"/>
                <a:ea typeface="Apple SD Gothic Neo" panose="02000300000000000000" pitchFamily="2" charset="-127"/>
                <a:cs typeface="Baloo Chettan 2" panose="03080502040302020200" pitchFamily="66" charset="0"/>
              </a:rPr>
              <a:t>switch/case</a:t>
            </a:r>
            <a:endParaRPr kumimoji="1" lang="ko-Kore-KR" altLang="en-US" sz="2400" b="0" dirty="0">
              <a:solidFill>
                <a:srgbClr val="0F68B2"/>
              </a:solidFill>
              <a:latin typeface="Chalkboard" panose="03050602040202020205" pitchFamily="66" charset="0"/>
              <a:ea typeface="Apple SD Gothic Neo" panose="02000300000000000000" pitchFamily="2" charset="-127"/>
              <a:cs typeface="Baloo Chettan 2" panose="03080502040302020200" pitchFamily="66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FA9B99D-C8AA-814F-C7FB-603CA7A37CD9}"/>
              </a:ext>
            </a:extLst>
          </p:cNvPr>
          <p:cNvSpPr txBox="1"/>
          <p:nvPr userDrawn="1"/>
        </p:nvSpPr>
        <p:spPr>
          <a:xfrm>
            <a:off x="228200" y="3015285"/>
            <a:ext cx="20434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sz="2800" b="0" dirty="0">
                <a:solidFill>
                  <a:srgbClr val="0F68B2"/>
                </a:solidFill>
                <a:latin typeface="Chalkboard" panose="03050602040202020205" pitchFamily="66" charset="0"/>
                <a:ea typeface="Apple SD Gothic Neo" panose="02000300000000000000" pitchFamily="2" charset="-127"/>
                <a:cs typeface="Baloo Chettan 2" panose="03080502040302020200" pitchFamily="66" charset="0"/>
              </a:rPr>
              <a:t>malloc/free</a:t>
            </a:r>
            <a:endParaRPr kumimoji="1" lang="ko-Kore-KR" altLang="en-US" sz="2800" b="0" dirty="0">
              <a:solidFill>
                <a:srgbClr val="0F68B2"/>
              </a:solidFill>
              <a:latin typeface="Chalkboard" panose="03050602040202020205" pitchFamily="66" charset="0"/>
              <a:ea typeface="Apple SD Gothic Neo" panose="02000300000000000000" pitchFamily="2" charset="-127"/>
              <a:cs typeface="Baloo Chettan 2" panose="03080502040302020200" pitchFamily="66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95EF673-80A3-1A2A-E879-47829E37690E}"/>
              </a:ext>
            </a:extLst>
          </p:cNvPr>
          <p:cNvSpPr txBox="1"/>
          <p:nvPr userDrawn="1"/>
        </p:nvSpPr>
        <p:spPr>
          <a:xfrm>
            <a:off x="9977630" y="2951946"/>
            <a:ext cx="20832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ore-KR" sz="2800" b="0" dirty="0">
                <a:solidFill>
                  <a:srgbClr val="0F68B2"/>
                </a:solidFill>
                <a:latin typeface="Chalkboard" panose="03050602040202020205" pitchFamily="66" charset="0"/>
                <a:ea typeface="Apple SD Gothic Neo" panose="02000300000000000000" pitchFamily="2" charset="-127"/>
                <a:cs typeface="Baloo Chettan 2" panose="03080502040302020200" pitchFamily="66" charset="0"/>
              </a:rPr>
              <a:t>if else </a:t>
            </a:r>
          </a:p>
        </p:txBody>
      </p:sp>
      <p:pic>
        <p:nvPicPr>
          <p:cNvPr id="22" name="그림 21" descr="블랙, 어둠이(가) 표시된 사진&#10;&#10;자동 생성된 설명">
            <a:extLst>
              <a:ext uri="{FF2B5EF4-FFF2-40B4-BE49-F238E27FC236}">
                <a16:creationId xmlns:a16="http://schemas.microsoft.com/office/drawing/2014/main" id="{3599224E-88C5-B00C-4692-8DC48ECCA6B9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artisticPhotocopy trans="1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45100" y="1999285"/>
            <a:ext cx="1016000" cy="1016000"/>
          </a:xfrm>
          <a:prstGeom prst="rect">
            <a:avLst/>
          </a:prstGeom>
        </p:spPr>
      </p:pic>
      <p:pic>
        <p:nvPicPr>
          <p:cNvPr id="23" name="그림 22" descr="블랙, 어둠이(가) 표시된 사진&#10;&#10;자동 생성된 설명">
            <a:extLst>
              <a:ext uri="{FF2B5EF4-FFF2-40B4-BE49-F238E27FC236}">
                <a16:creationId xmlns:a16="http://schemas.microsoft.com/office/drawing/2014/main" id="{9F6A2CB1-494A-026E-1474-F52AC9433F0C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alphaModFix amt="35000"/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artisticPhotocopy trans="11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3298" y="518263"/>
            <a:ext cx="627806" cy="627806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1D745DD8-41BC-1C9C-A4C3-768B90C670BE}"/>
              </a:ext>
            </a:extLst>
          </p:cNvPr>
          <p:cNvSpPr txBox="1"/>
          <p:nvPr userDrawn="1"/>
        </p:nvSpPr>
        <p:spPr>
          <a:xfrm>
            <a:off x="2243662" y="98736"/>
            <a:ext cx="14881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sz="2400" b="0" dirty="0">
                <a:solidFill>
                  <a:srgbClr val="0F68B2"/>
                </a:solidFill>
                <a:latin typeface="Chalkboard" panose="03050602040202020205" pitchFamily="66" charset="0"/>
                <a:ea typeface="Apple SD Gothic Neo" panose="02000300000000000000" pitchFamily="2" charset="-127"/>
                <a:cs typeface="Baloo Chettan 2" panose="03080502040302020200" pitchFamily="66" charset="0"/>
              </a:rPr>
              <a:t>structure</a:t>
            </a:r>
            <a:endParaRPr kumimoji="1" lang="ko-Kore-KR" altLang="en-US" sz="2400" b="0" dirty="0">
              <a:solidFill>
                <a:srgbClr val="0F68B2"/>
              </a:solidFill>
              <a:latin typeface="Chalkboard" panose="03050602040202020205" pitchFamily="66" charset="0"/>
              <a:ea typeface="Apple SD Gothic Neo" panose="02000300000000000000" pitchFamily="2" charset="-127"/>
              <a:cs typeface="Baloo Chettan 2" panose="03080502040302020200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90881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>
            <a:extLst>
              <a:ext uri="{FF2B5EF4-FFF2-40B4-BE49-F238E27FC236}">
                <a16:creationId xmlns:a16="http://schemas.microsoft.com/office/drawing/2014/main" id="{1133B37F-1E35-4071-8145-A0094E0B0BAD}"/>
              </a:ext>
            </a:extLst>
          </p:cNvPr>
          <p:cNvSpPr/>
          <p:nvPr userDrawn="1"/>
        </p:nvSpPr>
        <p:spPr>
          <a:xfrm>
            <a:off x="0" y="12218"/>
            <a:ext cx="12189600" cy="687600"/>
          </a:xfrm>
          <a:prstGeom prst="rect">
            <a:avLst/>
          </a:prstGeom>
          <a:solidFill>
            <a:srgbClr val="3677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24" name="AutoShape 177" descr="6">
            <a:extLst>
              <a:ext uri="{FF2B5EF4-FFF2-40B4-BE49-F238E27FC236}">
                <a16:creationId xmlns:a16="http://schemas.microsoft.com/office/drawing/2014/main" id="{71E27B3D-DA8A-4A06-A648-61527C892BA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7239" y="984149"/>
            <a:ext cx="11941348" cy="5791120"/>
          </a:xfrm>
          <a:prstGeom prst="roundRect">
            <a:avLst>
              <a:gd name="adj" fmla="val 3315"/>
            </a:avLst>
          </a:prstGeom>
          <a:blipFill dpi="0" rotWithShape="0">
            <a:blip r:embed="rId2" cstate="print">
              <a:alphaModFix amt="41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9525" algn="ctr">
            <a:solidFill>
              <a:srgbClr val="006600"/>
            </a:solidFill>
            <a:round/>
            <a:headEnd/>
            <a:tailEnd/>
          </a:ln>
        </p:spPr>
        <p:txBody>
          <a:bodyPr lIns="144000" tIns="72000" rIns="72000" bIns="72000" anchor="ctr"/>
          <a:lstStyle/>
          <a:p>
            <a:pPr marL="188913" indent="-188913" algn="ctr" fontAlgn="ctr" latinLnBrk="0">
              <a:spcBef>
                <a:spcPct val="20000"/>
              </a:spcBef>
              <a:spcAft>
                <a:spcPct val="20000"/>
              </a:spcAft>
              <a:buClr>
                <a:srgbClr val="0066FF"/>
              </a:buClr>
              <a:buFont typeface="Wingdings 2" pitchFamily="18" charset="2"/>
              <a:buNone/>
            </a:pPr>
            <a:endParaRPr lang="ko-KR" altLang="en-US" sz="1700" dirty="0">
              <a:latin typeface="나눔고딕 ExtraBold" pitchFamily="50" charset="-127"/>
              <a:ea typeface="나눔고딕 ExtraBold" pitchFamily="50" charset="-127"/>
            </a:endParaRPr>
          </a:p>
        </p:txBody>
      </p:sp>
      <p:sp>
        <p:nvSpPr>
          <p:cNvPr id="9" name="내용 개체 틀 2"/>
          <p:cNvSpPr txBox="1">
            <a:spLocks/>
          </p:cNvSpPr>
          <p:nvPr userDrawn="1"/>
        </p:nvSpPr>
        <p:spPr>
          <a:xfrm>
            <a:off x="364381" y="1585732"/>
            <a:ext cx="11494113" cy="4939611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ko-KR" sz="2000" b="1" dirty="0">
              <a:solidFill>
                <a:srgbClr val="7030A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Tahoma" pitchFamily="34" charset="0"/>
            </a:endParaRPr>
          </a:p>
          <a:p>
            <a:pPr lvl="1"/>
            <a:endParaRPr lang="en-US" altLang="ko-KR" sz="1600" b="1" dirty="0">
              <a:solidFill>
                <a:srgbClr val="7030A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Tahoma" pitchFamily="34" charset="0"/>
            </a:endParaRPr>
          </a:p>
          <a:p>
            <a:pPr lvl="2"/>
            <a:endParaRPr lang="ko-KR" altLang="en-US" sz="1500" b="1" dirty="0">
              <a:solidFill>
                <a:srgbClr val="7030A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Tahoma" pitchFamily="34" charset="0"/>
            </a:endParaRPr>
          </a:p>
          <a:p>
            <a:pPr lvl="1"/>
            <a:endParaRPr lang="en-US" altLang="ko-KR" sz="1600" dirty="0">
              <a:solidFill>
                <a:srgbClr val="175079"/>
              </a:solidFill>
            </a:endParaRPr>
          </a:p>
          <a:p>
            <a:pPr lvl="1"/>
            <a:endParaRPr lang="en-US" altLang="ko-KR" sz="1500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  <a:p>
            <a:pPr lvl="1"/>
            <a:endParaRPr lang="ko-KR" altLang="en-US" sz="1600" b="1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Tahoma" pitchFamily="34" charset="0"/>
            </a:endParaRPr>
          </a:p>
          <a:p>
            <a:pPr lvl="2"/>
            <a:endParaRPr lang="en-US" altLang="ko-KR" sz="1600" dirty="0">
              <a:solidFill>
                <a:srgbClr val="175079"/>
              </a:solidFill>
            </a:endParaRPr>
          </a:p>
        </p:txBody>
      </p:sp>
      <p:sp>
        <p:nvSpPr>
          <p:cNvPr id="17" name="텍스트 개체 틀 3"/>
          <p:cNvSpPr>
            <a:spLocks noGrp="1"/>
          </p:cNvSpPr>
          <p:nvPr>
            <p:ph idx="1" hasCustomPrompt="1"/>
          </p:nvPr>
        </p:nvSpPr>
        <p:spPr>
          <a:xfrm>
            <a:off x="345301" y="1161696"/>
            <a:ext cx="11471803" cy="53266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buClr>
                <a:srgbClr val="3677BB"/>
              </a:buClr>
              <a:buFont typeface="Wingdings" pitchFamily="2" charset="2"/>
              <a:buChar char="§"/>
              <a:defRPr baseline="0">
                <a:solidFill>
                  <a:schemeClr val="tx1"/>
                </a:solidFill>
                <a:latin typeface="D2Coding" panose="020B0609020101020101" pitchFamily="49" charset="-127"/>
              </a:defRPr>
            </a:lvl1pPr>
            <a:lvl2pPr marL="670950" indent="-285750">
              <a:buClr>
                <a:srgbClr val="EE7D30"/>
              </a:buClr>
              <a:buFont typeface="Arial" panose="020B0604020202020204" pitchFamily="34" charset="0"/>
              <a:buChar char="•"/>
              <a:defRPr sz="1800" b="0" baseline="0">
                <a:solidFill>
                  <a:srgbClr val="05325B"/>
                </a:solidFill>
                <a:latin typeface="D2Coding" panose="020B0609020101020101" pitchFamily="49" charset="-127"/>
              </a:defRPr>
            </a:lvl2pPr>
            <a:lvl3pPr marL="999000" indent="-228600">
              <a:buFont typeface="Wingdings" pitchFamily="2" charset="2"/>
              <a:buChar char="Ø"/>
              <a:defRPr sz="1600" b="0" baseline="0">
                <a:solidFill>
                  <a:srgbClr val="0066FF"/>
                </a:solidFill>
                <a:latin typeface="D2Coding" panose="020B0609020101020101" pitchFamily="49" charset="-127"/>
              </a:defRPr>
            </a:lvl3pPr>
            <a:lvl4pPr marL="1312200">
              <a:defRPr sz="1600" b="0" baseline="0">
                <a:latin typeface="D2Coding" panose="020B0609020101020101" pitchFamily="49" charset="-127"/>
              </a:defRPr>
            </a:lvl4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</p:txBody>
      </p:sp>
      <p:sp>
        <p:nvSpPr>
          <p:cNvPr id="18" name="슬라이드 번호 개체 틀 4"/>
          <p:cNvSpPr txBox="1">
            <a:spLocks/>
          </p:cNvSpPr>
          <p:nvPr userDrawn="1"/>
        </p:nvSpPr>
        <p:spPr>
          <a:xfrm>
            <a:off x="9099165" y="6532901"/>
            <a:ext cx="2844800" cy="24018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86B130F-A908-445E-8E7B-906E66EDCC1E}" type="slidenum">
              <a:rPr lang="ko-KR" altLang="en-US" sz="1100" smtClean="0"/>
              <a:pPr/>
              <a:t>‹#›</a:t>
            </a:fld>
            <a:endParaRPr lang="ko-KR" altLang="en-US" sz="1100" dirty="0"/>
          </a:p>
        </p:txBody>
      </p:sp>
      <p:sp>
        <p:nvSpPr>
          <p:cNvPr id="19" name="제목 개체 틀 2"/>
          <p:cNvSpPr txBox="1">
            <a:spLocks/>
          </p:cNvSpPr>
          <p:nvPr userDrawn="1"/>
        </p:nvSpPr>
        <p:spPr>
          <a:xfrm>
            <a:off x="612172" y="927906"/>
            <a:ext cx="10972800" cy="4545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kumimoji="1" lang="ko-KR" altLang="en-US" sz="1600" kern="1200" dirty="0">
              <a:solidFill>
                <a:schemeClr val="bg1"/>
              </a:solidFill>
              <a:latin typeface="Tahoma" pitchFamily="34" charset="0"/>
              <a:ea typeface="+mn-ea"/>
              <a:cs typeface="Tahoma" pitchFamily="34" charset="0"/>
            </a:endParaRPr>
          </a:p>
        </p:txBody>
      </p:sp>
      <p:sp>
        <p:nvSpPr>
          <p:cNvPr id="21" name="제목 개체 틀 2"/>
          <p:cNvSpPr txBox="1">
            <a:spLocks/>
          </p:cNvSpPr>
          <p:nvPr userDrawn="1"/>
        </p:nvSpPr>
        <p:spPr>
          <a:xfrm>
            <a:off x="396100" y="924764"/>
            <a:ext cx="11595272" cy="45456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lang="ko-KR" altLang="en-US" sz="4000" b="1" kern="1200" dirty="0">
                <a:solidFill>
                  <a:schemeClr val="bg1"/>
                </a:solidFill>
                <a:latin typeface="Tahoma" pitchFamily="34" charset="0"/>
                <a:ea typeface="나눔고딕" pitchFamily="50" charset="-127"/>
                <a:cs typeface="Tahoma" pitchFamily="34" charset="0"/>
              </a:defRPr>
            </a:lvl1pPr>
          </a:lstStyle>
          <a:p>
            <a:endParaRPr lang="ko-KR" altLang="en-US" sz="16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제목 개체 틀 2"/>
          <p:cNvSpPr>
            <a:spLocks noGrp="1"/>
          </p:cNvSpPr>
          <p:nvPr>
            <p:ph type="title"/>
          </p:nvPr>
        </p:nvSpPr>
        <p:spPr>
          <a:xfrm>
            <a:off x="171697" y="145580"/>
            <a:ext cx="11819675" cy="45456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2800" baseline="0"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빈 화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09240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1974DA8F-3505-4051-A5C4-77A8EEB1D91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1603B6E1-3842-4258-B5CA-95212F89E70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326455" y="4061221"/>
            <a:ext cx="2381855" cy="2188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5013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37101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74790-609E-4709-843C-74DE14E574F0}" type="datetimeFigureOut">
              <a:rPr lang="ko-KR" altLang="en-US" smtClean="0"/>
              <a:t>2025. 9. 24.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E8952-81A4-411E-B1EB-37F2AC7984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27356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74790-609E-4709-843C-74DE14E574F0}" type="datetimeFigureOut">
              <a:rPr lang="ko-KR" altLang="en-US" smtClean="0"/>
              <a:t>2025. 9. 24.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E8952-81A4-411E-B1EB-37F2AC7984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888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74790-609E-4709-843C-74DE14E574F0}" type="datetimeFigureOut">
              <a:rPr lang="ko-KR" altLang="en-US" smtClean="0"/>
              <a:t>2025. 9. 24.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E8952-81A4-411E-B1EB-37F2AC7984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9125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74790-609E-4709-843C-74DE14E574F0}" type="datetimeFigureOut">
              <a:rPr lang="ko-KR" altLang="en-US" smtClean="0"/>
              <a:t>2025. 9. 24.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E8952-81A4-411E-B1EB-37F2AC7984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01559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74790-609E-4709-843C-74DE14E574F0}" type="datetimeFigureOut">
              <a:rPr lang="ko-KR" altLang="en-US" smtClean="0"/>
              <a:t>2025. 9. 24.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E8952-81A4-411E-B1EB-37F2AC7984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07110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74790-609E-4709-843C-74DE14E574F0}" type="datetimeFigureOut">
              <a:rPr lang="ko-KR" altLang="en-US" smtClean="0"/>
              <a:t>2025. 9. 24.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E8952-81A4-411E-B1EB-37F2AC7984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46133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74790-609E-4709-843C-74DE14E574F0}" type="datetimeFigureOut">
              <a:rPr lang="ko-KR" altLang="en-US" smtClean="0"/>
              <a:t>2025. 9. 24.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E8952-81A4-411E-B1EB-37F2AC7984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559181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74790-609E-4709-843C-74DE14E574F0}" type="datetimeFigureOut">
              <a:rPr lang="ko-KR" altLang="en-US" smtClean="0"/>
              <a:t>2025. 9. 24.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E8952-81A4-411E-B1EB-37F2AC7984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090555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74790-609E-4709-843C-74DE14E574F0}" type="datetimeFigureOut">
              <a:rPr lang="ko-KR" altLang="en-US" smtClean="0"/>
              <a:t>2025. 9. 24.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E8952-81A4-411E-B1EB-37F2AC7984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561782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74790-609E-4709-843C-74DE14E574F0}" type="datetimeFigureOut">
              <a:rPr lang="ko-KR" altLang="en-US" smtClean="0"/>
              <a:t>2025. 9. 24.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E8952-81A4-411E-B1EB-37F2AC7984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614271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74790-609E-4709-843C-74DE14E574F0}" type="datetimeFigureOut">
              <a:rPr lang="ko-KR" altLang="en-US" smtClean="0"/>
              <a:t>2025. 9. 24.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E8952-81A4-411E-B1EB-37F2AC7984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23257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51" r:id="rId2"/>
    <p:sldLayoutId id="2147483688" r:id="rId3"/>
    <p:sldLayoutId id="2147483687" r:id="rId4"/>
    <p:sldLayoutId id="2147483649" r:id="rId5"/>
    <p:sldLayoutId id="2147483665" r:id="rId6"/>
    <p:sldLayoutId id="2147483650" r:id="rId7"/>
    <p:sldLayoutId id="2147483684" r:id="rId8"/>
    <p:sldLayoutId id="2147483671" r:id="rId9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lang="ko-KR" altLang="en-US" sz="3800" b="1" kern="1200" dirty="0">
          <a:solidFill>
            <a:schemeClr val="bg1"/>
          </a:solidFill>
          <a:latin typeface="Tahoma" pitchFamily="34" charset="0"/>
          <a:ea typeface="나눔고딕" pitchFamily="50" charset="-127"/>
          <a:cs typeface="Tahoma" pitchFamily="34" charset="0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lang="ko-KR" altLang="en-US" sz="2000" b="1" kern="1200" dirty="0" smtClean="0">
          <a:solidFill>
            <a:srgbClr val="7030A0"/>
          </a:solidFill>
          <a:latin typeface="맑은 고딕" panose="020B0503020000020004" pitchFamily="50" charset="-127"/>
          <a:ea typeface="맑은 고딕" panose="020B0503020000020004" pitchFamily="50" charset="-127"/>
          <a:cs typeface="Tahoma" pitchFamily="34" charset="0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lang="ko-KR" altLang="en-US" sz="1600" b="0" kern="1200" dirty="0" smtClean="0">
          <a:solidFill>
            <a:srgbClr val="175079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lang="ko-KR" altLang="en-US" sz="1500" kern="1200" dirty="0" smtClean="0">
          <a:solidFill>
            <a:schemeClr val="accent5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574790-609E-4709-843C-74DE14E574F0}" type="datetimeFigureOut">
              <a:rPr lang="ko-KR" altLang="en-US" smtClean="0"/>
              <a:t>2025. 9. 24.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1E8952-81A4-411E-B1EB-37F2AC7984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67469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9197D9-0C7B-0F28-8A07-6913FE5899C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ko-Kore-KR" altLang="en-US" dirty="0"/>
              <a:t>프로그래밍</a:t>
            </a:r>
            <a:r>
              <a:rPr kumimoji="1" lang="ko-KR" altLang="en-US" dirty="0"/>
              <a:t> 기초</a:t>
            </a:r>
            <a:br>
              <a:rPr kumimoji="1" lang="en-US" altLang="ko-KR" dirty="0"/>
            </a:br>
            <a:endParaRPr kumimoji="1" lang="ko-Kore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1169BF7-8BF3-8F6B-E909-A2FB5553609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algn="ctr"/>
            <a:r>
              <a:rPr kumimoji="1" lang="en-US" altLang="ko-KR" dirty="0"/>
              <a:t>Lab</a:t>
            </a:r>
            <a:r>
              <a:rPr kumimoji="1" lang="ko-KR" altLang="en-US" dirty="0"/>
              <a:t> </a:t>
            </a:r>
            <a:r>
              <a:rPr kumimoji="1" lang="en-US" altLang="ko-KR" dirty="0"/>
              <a:t>4:</a:t>
            </a:r>
            <a:r>
              <a:rPr kumimoji="1" lang="ko-KR" altLang="en-US" dirty="0"/>
              <a:t> 반복 </a:t>
            </a:r>
            <a:r>
              <a:rPr kumimoji="1" lang="en-US" altLang="ko-KR" dirty="0"/>
              <a:t>(</a:t>
            </a:r>
            <a:r>
              <a:rPr kumimoji="1" lang="ko-KR" altLang="en-US" dirty="0"/>
              <a:t>문제 분해 예시</a:t>
            </a:r>
            <a:r>
              <a:rPr kumimoji="1" lang="en-US" altLang="ko-KR" dirty="0"/>
              <a:t>)</a:t>
            </a:r>
            <a:endParaRPr kumimoji="1" lang="ko-Kore-KR" altLang="en-US" dirty="0"/>
          </a:p>
        </p:txBody>
      </p:sp>
    </p:spTree>
    <p:extLst>
      <p:ext uri="{BB962C8B-B14F-4D97-AF65-F5344CB8AC3E}">
        <p14:creationId xmlns:p14="http://schemas.microsoft.com/office/powerpoint/2010/main" val="16794733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5CFB71C4-126E-2732-BF0F-4FFB278E8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문제</a:t>
            </a:r>
            <a:r>
              <a:rPr kumimoji="1" lang="en-US" altLang="ko-KR" dirty="0"/>
              <a:t> 1. </a:t>
            </a:r>
            <a:r>
              <a:rPr kumimoji="1" lang="ko-KR" altLang="en-US" dirty="0"/>
              <a:t>정수 </a:t>
            </a:r>
            <a:r>
              <a:rPr kumimoji="1" lang="en-US" altLang="ko-KR" dirty="0"/>
              <a:t>n</a:t>
            </a:r>
            <a:r>
              <a:rPr kumimoji="1" lang="ko-KR" altLang="en-US" dirty="0"/>
              <a:t>까지 </a:t>
            </a:r>
            <a:r>
              <a:rPr kumimoji="1" lang="en-US" altLang="ko-KR" dirty="0"/>
              <a:t>3</a:t>
            </a:r>
            <a:r>
              <a:rPr kumimoji="1" lang="ko-KR" altLang="en-US" dirty="0"/>
              <a:t>의 배수의 합 계산 프로그램</a:t>
            </a:r>
            <a:r>
              <a:rPr kumimoji="1" lang="en-US" altLang="ko-KR" dirty="0"/>
              <a:t>: </a:t>
            </a:r>
            <a:r>
              <a:rPr kumimoji="1" lang="ko-KR" altLang="en-US" dirty="0"/>
              <a:t>문제 분해 과정</a:t>
            </a:r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0EFB3E7D-106D-CE20-7D6C-81CCF83B64B5}"/>
              </a:ext>
            </a:extLst>
          </p:cNvPr>
          <p:cNvGrpSpPr/>
          <p:nvPr/>
        </p:nvGrpSpPr>
        <p:grpSpPr>
          <a:xfrm>
            <a:off x="1153681" y="3159193"/>
            <a:ext cx="1052559" cy="2372452"/>
            <a:chOff x="1153681" y="2841479"/>
            <a:chExt cx="1052559" cy="2372452"/>
          </a:xfrm>
        </p:grpSpPr>
        <p:sp>
          <p:nvSpPr>
            <p:cNvPr id="4" name="모서리가 둥근 직사각형 3">
              <a:extLst>
                <a:ext uri="{FF2B5EF4-FFF2-40B4-BE49-F238E27FC236}">
                  <a16:creationId xmlns:a16="http://schemas.microsoft.com/office/drawing/2014/main" id="{EA6904C9-7854-DB8B-42CD-3765BB7D9826}"/>
                </a:ext>
              </a:extLst>
            </p:cNvPr>
            <p:cNvSpPr/>
            <p:nvPr/>
          </p:nvSpPr>
          <p:spPr>
            <a:xfrm>
              <a:off x="1153682" y="3180033"/>
              <a:ext cx="1052558" cy="2033898"/>
            </a:xfrm>
            <a:prstGeom prst="roundRect">
              <a:avLst>
                <a:gd name="adj" fmla="val 9649"/>
              </a:avLst>
            </a:prstGeom>
            <a:solidFill>
              <a:schemeClr val="accent1"/>
            </a:solidFill>
            <a:ln w="6350">
              <a:noFill/>
            </a:ln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1400" dirty="0"/>
                <a:t>정수</a:t>
              </a:r>
              <a:r>
                <a:rPr kumimoji="1" lang="en-US" altLang="ko-KR" sz="1400" dirty="0"/>
                <a:t> n</a:t>
              </a:r>
              <a:endParaRPr kumimoji="1" lang="ko-KR" altLang="en-US" sz="1400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26FEEC3-A049-99CE-BE48-B3F44138F846}"/>
                </a:ext>
              </a:extLst>
            </p:cNvPr>
            <p:cNvSpPr txBox="1"/>
            <p:nvPr/>
          </p:nvSpPr>
          <p:spPr>
            <a:xfrm>
              <a:off x="1153681" y="2841479"/>
              <a:ext cx="1052557" cy="338554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ko-KR" sz="1600" dirty="0">
                  <a:latin typeface="D2Coding" panose="020B0609020101020101" pitchFamily="49" charset="-127"/>
                  <a:ea typeface="D2Coding" panose="020B0609020101020101" pitchFamily="49" charset="-127"/>
                  <a:cs typeface="Tahoma" pitchFamily="34" charset="0"/>
                </a:rPr>
                <a:t>input</a:t>
              </a:r>
              <a:endParaRPr kumimoji="1"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cs typeface="Tahoma" pitchFamily="34" charset="0"/>
              </a:endParaRPr>
            </a:p>
          </p:txBody>
        </p:sp>
      </p:grp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73532BE1-AA6A-13EA-3487-07A4E123F328}"/>
              </a:ext>
            </a:extLst>
          </p:cNvPr>
          <p:cNvGrpSpPr/>
          <p:nvPr/>
        </p:nvGrpSpPr>
        <p:grpSpPr>
          <a:xfrm>
            <a:off x="10142438" y="3159193"/>
            <a:ext cx="1052558" cy="2372451"/>
            <a:chOff x="10142438" y="2841479"/>
            <a:chExt cx="1052558" cy="2372451"/>
          </a:xfrm>
        </p:grpSpPr>
        <p:sp>
          <p:nvSpPr>
            <p:cNvPr id="5" name="모서리가 둥근 직사각형 4">
              <a:extLst>
                <a:ext uri="{FF2B5EF4-FFF2-40B4-BE49-F238E27FC236}">
                  <a16:creationId xmlns:a16="http://schemas.microsoft.com/office/drawing/2014/main" id="{6503BA85-A935-97C7-0601-1A2FDE223963}"/>
                </a:ext>
              </a:extLst>
            </p:cNvPr>
            <p:cNvSpPr/>
            <p:nvPr/>
          </p:nvSpPr>
          <p:spPr>
            <a:xfrm>
              <a:off x="10142438" y="3180033"/>
              <a:ext cx="1052558" cy="2033897"/>
            </a:xfrm>
            <a:prstGeom prst="roundRect">
              <a:avLst>
                <a:gd name="adj" fmla="val 9649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1400" dirty="0"/>
                <a:t>출력</a:t>
              </a:r>
              <a:endParaRPr kumimoji="1" lang="en-US" altLang="ko-KR" sz="1400" dirty="0"/>
            </a:p>
            <a:p>
              <a:pPr algn="ctr"/>
              <a:r>
                <a:rPr kumimoji="1" lang="en-US" altLang="ko-KR" sz="1400" dirty="0"/>
                <a:t>(3</a:t>
              </a:r>
              <a:r>
                <a:rPr kumimoji="1" lang="ko-KR" altLang="en-US" sz="1400" dirty="0"/>
                <a:t>의 배수 및 합</a:t>
              </a:r>
              <a:r>
                <a:rPr kumimoji="1" lang="en-US" altLang="ko-KR" sz="1400" dirty="0"/>
                <a:t>)</a:t>
              </a:r>
              <a:endParaRPr kumimoji="1" lang="ko-KR" altLang="en-US" sz="1400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E43503B-AA09-DABD-BF6A-FD9799EF63AF}"/>
                </a:ext>
              </a:extLst>
            </p:cNvPr>
            <p:cNvSpPr txBox="1"/>
            <p:nvPr/>
          </p:nvSpPr>
          <p:spPr>
            <a:xfrm>
              <a:off x="10142438" y="2841479"/>
              <a:ext cx="1052557" cy="338554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ko-KR" sz="1600" dirty="0">
                  <a:latin typeface="D2Coding" panose="020B0609020101020101" pitchFamily="49" charset="-127"/>
                  <a:ea typeface="D2Coding" panose="020B0609020101020101" pitchFamily="49" charset="-127"/>
                  <a:cs typeface="Tahoma" pitchFamily="34" charset="0"/>
                </a:rPr>
                <a:t>output</a:t>
              </a:r>
              <a:endParaRPr kumimoji="1"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cs typeface="Tahoma" pitchFamily="34" charset="0"/>
              </a:endParaRPr>
            </a:p>
          </p:txBody>
        </p:sp>
      </p:grp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B9EFD5C6-1B66-00E9-9D43-6D9EAD969EDA}"/>
              </a:ext>
            </a:extLst>
          </p:cNvPr>
          <p:cNvGrpSpPr/>
          <p:nvPr/>
        </p:nvGrpSpPr>
        <p:grpSpPr>
          <a:xfrm>
            <a:off x="2681373" y="2265275"/>
            <a:ext cx="6964822" cy="4188920"/>
            <a:chOff x="2681373" y="1947561"/>
            <a:chExt cx="6964822" cy="4188920"/>
          </a:xfrm>
        </p:grpSpPr>
        <p:sp>
          <p:nvSpPr>
            <p:cNvPr id="11" name="모서리가 둥근 직사각형 10">
              <a:extLst>
                <a:ext uri="{FF2B5EF4-FFF2-40B4-BE49-F238E27FC236}">
                  <a16:creationId xmlns:a16="http://schemas.microsoft.com/office/drawing/2014/main" id="{EF1A6BE2-5227-5116-8DDD-EDAE660132F3}"/>
                </a:ext>
              </a:extLst>
            </p:cNvPr>
            <p:cNvSpPr/>
            <p:nvPr/>
          </p:nvSpPr>
          <p:spPr>
            <a:xfrm>
              <a:off x="2681373" y="2286115"/>
              <a:ext cx="6964822" cy="3850366"/>
            </a:xfrm>
            <a:prstGeom prst="roundRect">
              <a:avLst>
                <a:gd name="adj" fmla="val 1020"/>
              </a:avLst>
            </a:prstGeom>
            <a:solidFill>
              <a:schemeClr val="bg1">
                <a:lumMod val="9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06BF358-1C71-B7F6-A858-A4AF0DC32C53}"/>
                </a:ext>
              </a:extLst>
            </p:cNvPr>
            <p:cNvSpPr txBox="1"/>
            <p:nvPr/>
          </p:nvSpPr>
          <p:spPr>
            <a:xfrm>
              <a:off x="5554923" y="1947561"/>
              <a:ext cx="1052557" cy="338554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ko-KR" altLang="en-US" sz="1600" dirty="0">
                  <a:latin typeface="D2Coding" panose="020B0609020101020101" pitchFamily="49" charset="-127"/>
                  <a:ea typeface="D2Coding" panose="020B0609020101020101" pitchFamily="49" charset="-127"/>
                  <a:cs typeface="Tahoma" pitchFamily="34" charset="0"/>
                </a:rPr>
                <a:t>연산</a:t>
              </a:r>
            </a:p>
          </p:txBody>
        </p:sp>
      </p:grpSp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72F9D27A-9918-87E9-EC87-C384CEE69D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5301" y="1161696"/>
            <a:ext cx="11471803" cy="607283"/>
          </a:xfrm>
        </p:spPr>
        <p:txBody>
          <a:bodyPr>
            <a:normAutofit/>
          </a:bodyPr>
          <a:lstStyle/>
          <a:p>
            <a:r>
              <a:rPr kumimoji="1" lang="en-US" altLang="ko-KR" sz="1600" dirty="0"/>
              <a:t>1~100 </a:t>
            </a:r>
            <a:r>
              <a:rPr kumimoji="1" lang="ko-KR" altLang="en-US" sz="1600" dirty="0"/>
              <a:t>사이의 정수</a:t>
            </a:r>
            <a:r>
              <a:rPr kumimoji="1" lang="en-US" altLang="ko-KR" sz="1600" dirty="0"/>
              <a:t>(n)</a:t>
            </a:r>
            <a:r>
              <a:rPr kumimoji="1" lang="ko-KR" altLang="en-US" sz="1600" dirty="0" err="1"/>
              <a:t>를</a:t>
            </a:r>
            <a:r>
              <a:rPr kumimoji="1" lang="ko-KR" altLang="en-US" sz="1600" dirty="0"/>
              <a:t> 화면에서 입력 받고 </a:t>
            </a:r>
            <a:r>
              <a:rPr kumimoji="1" lang="en-US" altLang="ko-KR" sz="1600" dirty="0"/>
              <a:t>1</a:t>
            </a:r>
            <a:r>
              <a:rPr kumimoji="1" lang="ko-KR" altLang="en-US" sz="1600" dirty="0" err="1"/>
              <a:t>부터</a:t>
            </a:r>
            <a:r>
              <a:rPr kumimoji="1" lang="ko-KR" altLang="en-US" sz="1600" dirty="0"/>
              <a:t> </a:t>
            </a:r>
            <a:r>
              <a:rPr kumimoji="1" lang="en-US" altLang="ko-KR" sz="1600" dirty="0"/>
              <a:t>n</a:t>
            </a:r>
            <a:r>
              <a:rPr kumimoji="1" lang="ko-KR" altLang="en-US" sz="1600" dirty="0"/>
              <a:t>까지의 숫자 중에서 </a:t>
            </a:r>
            <a:r>
              <a:rPr kumimoji="1" lang="en-US" altLang="ko-KR" sz="1600" dirty="0"/>
              <a:t>3</a:t>
            </a:r>
            <a:r>
              <a:rPr kumimoji="1" lang="ko-KR" altLang="en-US" sz="1600" dirty="0"/>
              <a:t>의 배수의 숫자를 구하고</a:t>
            </a:r>
            <a:r>
              <a:rPr kumimoji="1" lang="en-US" altLang="ko-KR" sz="1600" dirty="0"/>
              <a:t>,</a:t>
            </a:r>
            <a:r>
              <a:rPr kumimoji="1" lang="ko-KR" altLang="en-US" sz="1600" dirty="0"/>
              <a:t> </a:t>
            </a:r>
            <a:r>
              <a:rPr kumimoji="1" lang="en-US" altLang="ko-KR" sz="1600" dirty="0"/>
              <a:t>3</a:t>
            </a:r>
            <a:r>
              <a:rPr kumimoji="1" lang="ko-KR" altLang="en-US" sz="1600" dirty="0"/>
              <a:t>의 배수를 모두 더한 합을 계산하는 </a:t>
            </a:r>
            <a:r>
              <a:rPr kumimoji="1" lang="ko-Kore-KR" altLang="en-US" sz="1600"/>
              <a:t>프로그램을 </a:t>
            </a:r>
            <a:r>
              <a:rPr kumimoji="1" lang="ko-Kore-KR" altLang="en-US" sz="1600" dirty="0"/>
              <a:t>작성하시오</a:t>
            </a:r>
            <a:endParaRPr kumimoji="1" lang="en-US" altLang="ko-Kore-KR" sz="1600" dirty="0"/>
          </a:p>
          <a:p>
            <a:endParaRPr kumimoji="1" lang="en-US" altLang="ko-Kore-KR" sz="1600" dirty="0"/>
          </a:p>
        </p:txBody>
      </p:sp>
      <p:sp>
        <p:nvSpPr>
          <p:cNvPr id="14" name="오른쪽 화살표[R] 13">
            <a:extLst>
              <a:ext uri="{FF2B5EF4-FFF2-40B4-BE49-F238E27FC236}">
                <a16:creationId xmlns:a16="http://schemas.microsoft.com/office/drawing/2014/main" id="{333C319F-2DFC-B1C5-82AB-6B28506454C2}"/>
              </a:ext>
            </a:extLst>
          </p:cNvPr>
          <p:cNvSpPr/>
          <p:nvPr/>
        </p:nvSpPr>
        <p:spPr>
          <a:xfrm>
            <a:off x="2324456" y="4368421"/>
            <a:ext cx="256374" cy="273465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5" name="오른쪽 화살표[R] 14">
            <a:extLst>
              <a:ext uri="{FF2B5EF4-FFF2-40B4-BE49-F238E27FC236}">
                <a16:creationId xmlns:a16="http://schemas.microsoft.com/office/drawing/2014/main" id="{8003C55E-D342-EE8F-2ACE-E6CADE9A1348}"/>
              </a:ext>
            </a:extLst>
          </p:cNvPr>
          <p:cNvSpPr/>
          <p:nvPr/>
        </p:nvSpPr>
        <p:spPr>
          <a:xfrm>
            <a:off x="9762860" y="4377962"/>
            <a:ext cx="256374" cy="273465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6" name="모서리가 둥근 직사각형 15">
            <a:extLst>
              <a:ext uri="{FF2B5EF4-FFF2-40B4-BE49-F238E27FC236}">
                <a16:creationId xmlns:a16="http://schemas.microsoft.com/office/drawing/2014/main" id="{4471C30E-9554-39C7-E041-762BF6866679}"/>
              </a:ext>
            </a:extLst>
          </p:cNvPr>
          <p:cNvSpPr/>
          <p:nvPr/>
        </p:nvSpPr>
        <p:spPr>
          <a:xfrm>
            <a:off x="3711597" y="2987636"/>
            <a:ext cx="2473295" cy="510111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400" dirty="0" err="1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</a:t>
            </a:r>
            <a:r>
              <a:rPr kumimoji="1" lang="ko-KR" altLang="en-US" sz="14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는 </a:t>
            </a:r>
            <a:r>
              <a:rPr kumimoji="1" lang="en-US" altLang="ko-KR" sz="14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1</a:t>
            </a:r>
            <a:r>
              <a:rPr kumimoji="1" lang="ko-KR" altLang="en-US" sz="1400" dirty="0" err="1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부터</a:t>
            </a:r>
            <a:r>
              <a:rPr kumimoji="1" lang="ko-KR" altLang="en-US" sz="14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1" lang="en-US" altLang="ko-KR" sz="14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</a:t>
            </a:r>
            <a:r>
              <a:rPr kumimoji="1" lang="ko-KR" altLang="en-US" sz="14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까지 반복</a:t>
            </a:r>
          </a:p>
        </p:txBody>
      </p:sp>
      <p:sp>
        <p:nvSpPr>
          <p:cNvPr id="17" name="모서리가 둥근 직사각형 16">
            <a:extLst>
              <a:ext uri="{FF2B5EF4-FFF2-40B4-BE49-F238E27FC236}">
                <a16:creationId xmlns:a16="http://schemas.microsoft.com/office/drawing/2014/main" id="{8DB914F9-C344-669E-95FD-943C2144FA65}"/>
              </a:ext>
            </a:extLst>
          </p:cNvPr>
          <p:cNvSpPr/>
          <p:nvPr/>
        </p:nvSpPr>
        <p:spPr>
          <a:xfrm>
            <a:off x="3711597" y="3855074"/>
            <a:ext cx="2473295" cy="510111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400" dirty="0" err="1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</a:t>
            </a:r>
            <a:r>
              <a:rPr kumimoji="1" lang="ko-KR" altLang="en-US" sz="14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값이 </a:t>
            </a:r>
            <a:r>
              <a:rPr kumimoji="1" lang="en-US" altLang="ko-KR" sz="14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3</a:t>
            </a:r>
            <a:r>
              <a:rPr kumimoji="1" lang="ko-KR" altLang="en-US" sz="14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의 배수인지 계산</a:t>
            </a:r>
          </a:p>
        </p:txBody>
      </p:sp>
      <p:sp>
        <p:nvSpPr>
          <p:cNvPr id="18" name="모서리가 둥근 직사각형 17">
            <a:extLst>
              <a:ext uri="{FF2B5EF4-FFF2-40B4-BE49-F238E27FC236}">
                <a16:creationId xmlns:a16="http://schemas.microsoft.com/office/drawing/2014/main" id="{EA2A7443-797F-5BC1-6098-C0EA14396750}"/>
              </a:ext>
            </a:extLst>
          </p:cNvPr>
          <p:cNvSpPr/>
          <p:nvPr/>
        </p:nvSpPr>
        <p:spPr>
          <a:xfrm>
            <a:off x="3711598" y="4722512"/>
            <a:ext cx="2473294" cy="510111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400" dirty="0" err="1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</a:t>
            </a:r>
            <a:r>
              <a:rPr kumimoji="1" lang="ko-KR" altLang="en-US" sz="14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값 화면 출력</a:t>
            </a:r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8CFAB413-D404-7817-41DE-0AAEC281192C}"/>
              </a:ext>
            </a:extLst>
          </p:cNvPr>
          <p:cNvSpPr/>
          <p:nvPr/>
        </p:nvSpPr>
        <p:spPr>
          <a:xfrm>
            <a:off x="3711597" y="5589949"/>
            <a:ext cx="2473296" cy="510111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4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마지막 </a:t>
            </a:r>
            <a:r>
              <a:rPr kumimoji="1" lang="en-US" altLang="ko-KR" sz="1400" dirty="0" err="1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</a:t>
            </a:r>
            <a:r>
              <a:rPr kumimoji="1" lang="ko-KR" altLang="en-US" sz="14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가 아니면 </a:t>
            </a:r>
            <a:endParaRPr kumimoji="1" lang="en-US" altLang="ko-KR" sz="1400" dirty="0">
              <a:solidFill>
                <a:schemeClr val="tx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ctr"/>
            <a:r>
              <a:rPr kumimoji="1" lang="en-US" altLang="ko-KR" sz="14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“+” </a:t>
            </a:r>
            <a:r>
              <a:rPr kumimoji="1" lang="ko-KR" altLang="en-US" sz="14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기호 출력</a:t>
            </a:r>
          </a:p>
        </p:txBody>
      </p:sp>
      <p:sp>
        <p:nvSpPr>
          <p:cNvPr id="21" name="모서리가 둥근 직사각형 20">
            <a:extLst>
              <a:ext uri="{FF2B5EF4-FFF2-40B4-BE49-F238E27FC236}">
                <a16:creationId xmlns:a16="http://schemas.microsoft.com/office/drawing/2014/main" id="{2AC580F3-ACBF-B773-7076-B01D82DA5F58}"/>
              </a:ext>
            </a:extLst>
          </p:cNvPr>
          <p:cNvSpPr/>
          <p:nvPr/>
        </p:nvSpPr>
        <p:spPr>
          <a:xfrm>
            <a:off x="6660025" y="4722512"/>
            <a:ext cx="2193808" cy="510111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4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sum</a:t>
            </a:r>
            <a:r>
              <a:rPr kumimoji="1" lang="ko-KR" altLang="en-US" sz="14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1" lang="en-US" altLang="ko-KR" sz="14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 sum + </a:t>
            </a:r>
            <a:r>
              <a:rPr kumimoji="1" lang="en-US" altLang="ko-KR" sz="1400" dirty="0" err="1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</a:t>
            </a:r>
            <a:endParaRPr kumimoji="1" lang="ko-KR" altLang="en-US" sz="1400" dirty="0">
              <a:solidFill>
                <a:schemeClr val="tx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65C023EE-3B47-CC49-510C-23F1C7154D6B}"/>
              </a:ext>
            </a:extLst>
          </p:cNvPr>
          <p:cNvCxnSpPr>
            <a:stCxn id="16" idx="2"/>
            <a:endCxn id="17" idx="0"/>
          </p:cNvCxnSpPr>
          <p:nvPr/>
        </p:nvCxnSpPr>
        <p:spPr>
          <a:xfrm>
            <a:off x="4948245" y="3497747"/>
            <a:ext cx="0" cy="3573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E7C9D5E0-BB21-9622-C38A-3E35505FA776}"/>
              </a:ext>
            </a:extLst>
          </p:cNvPr>
          <p:cNvCxnSpPr>
            <a:cxnSpLocks/>
            <a:stCxn id="18" idx="2"/>
            <a:endCxn id="19" idx="0"/>
          </p:cNvCxnSpPr>
          <p:nvPr/>
        </p:nvCxnSpPr>
        <p:spPr>
          <a:xfrm>
            <a:off x="4948245" y="5232623"/>
            <a:ext cx="0" cy="3573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꺾인 연결선[E] 33">
            <a:extLst>
              <a:ext uri="{FF2B5EF4-FFF2-40B4-BE49-F238E27FC236}">
                <a16:creationId xmlns:a16="http://schemas.microsoft.com/office/drawing/2014/main" id="{655983B0-C1EA-07E7-F39C-43CBC2B63028}"/>
              </a:ext>
            </a:extLst>
          </p:cNvPr>
          <p:cNvCxnSpPr>
            <a:stCxn id="19" idx="1"/>
            <a:endCxn id="16" idx="1"/>
          </p:cNvCxnSpPr>
          <p:nvPr/>
        </p:nvCxnSpPr>
        <p:spPr>
          <a:xfrm rot="10800000">
            <a:off x="3711597" y="3242693"/>
            <a:ext cx="12700" cy="2602313"/>
          </a:xfrm>
          <a:prstGeom prst="bentConnector3">
            <a:avLst>
              <a:gd name="adj1" fmla="val 36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D090659F-8EFC-9274-B51E-21E480A81DCA}"/>
              </a:ext>
            </a:extLst>
          </p:cNvPr>
          <p:cNvCxnSpPr>
            <a:stCxn id="18" idx="3"/>
            <a:endCxn id="21" idx="1"/>
          </p:cNvCxnSpPr>
          <p:nvPr/>
        </p:nvCxnSpPr>
        <p:spPr>
          <a:xfrm>
            <a:off x="6184892" y="4977568"/>
            <a:ext cx="47513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0A4E0587-E21D-C4B8-4F2E-9FFB34E34D78}"/>
              </a:ext>
            </a:extLst>
          </p:cNvPr>
          <p:cNvGrpSpPr/>
          <p:nvPr/>
        </p:nvGrpSpPr>
        <p:grpSpPr>
          <a:xfrm>
            <a:off x="4948244" y="4365185"/>
            <a:ext cx="396262" cy="357327"/>
            <a:chOff x="4948244" y="4081727"/>
            <a:chExt cx="396262" cy="357327"/>
          </a:xfrm>
        </p:grpSpPr>
        <p:cxnSp>
          <p:nvCxnSpPr>
            <p:cNvPr id="24" name="직선 화살표 연결선 23">
              <a:extLst>
                <a:ext uri="{FF2B5EF4-FFF2-40B4-BE49-F238E27FC236}">
                  <a16:creationId xmlns:a16="http://schemas.microsoft.com/office/drawing/2014/main" id="{8BD64609-D087-A041-8AD4-808971A2DC3D}"/>
                </a:ext>
              </a:extLst>
            </p:cNvPr>
            <p:cNvCxnSpPr>
              <a:cxnSpLocks/>
              <a:stCxn id="17" idx="2"/>
              <a:endCxn id="18" idx="0"/>
            </p:cNvCxnSpPr>
            <p:nvPr/>
          </p:nvCxnSpPr>
          <p:spPr>
            <a:xfrm>
              <a:off x="4948245" y="4081727"/>
              <a:ext cx="0" cy="35732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E8A79AF3-3D84-3A7B-8A72-AFC3AC5FC2B9}"/>
                </a:ext>
              </a:extLst>
            </p:cNvPr>
            <p:cNvSpPr txBox="1"/>
            <p:nvPr/>
          </p:nvSpPr>
          <p:spPr>
            <a:xfrm>
              <a:off x="4948244" y="4081727"/>
              <a:ext cx="396262" cy="261610"/>
            </a:xfrm>
            <a:prstGeom prst="rect">
              <a:avLst/>
            </a:prstGeom>
          </p:spPr>
          <p:txBody>
            <a:bodyPr wrap="none" rtlCol="0">
              <a:spAutoFit/>
            </a:bodyPr>
            <a:lstStyle/>
            <a:p>
              <a:r>
                <a:rPr kumimoji="1" lang="en-US" altLang="ko-KR" sz="1100" dirty="0">
                  <a:solidFill>
                    <a:srgbClr val="0066FF"/>
                  </a:solidFill>
                  <a:latin typeface="D2Coding" panose="020B0609020101020101" pitchFamily="49" charset="-127"/>
                  <a:ea typeface="D2Coding" panose="020B0609020101020101" pitchFamily="49" charset="-127"/>
                  <a:cs typeface="Tahoma" pitchFamily="34" charset="0"/>
                </a:rPr>
                <a:t>YES</a:t>
              </a:r>
              <a:endParaRPr kumimoji="1" lang="ko-KR" altLang="en-US" sz="1100" dirty="0">
                <a:solidFill>
                  <a:srgbClr val="0066FF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Tahoma" pitchFamily="34" charset="0"/>
              </a:endParaRPr>
            </a:p>
          </p:txBody>
        </p:sp>
      </p:grp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CF45DBE7-E0DC-E1AF-721F-772E86AB187D}"/>
              </a:ext>
            </a:extLst>
          </p:cNvPr>
          <p:cNvGrpSpPr/>
          <p:nvPr/>
        </p:nvGrpSpPr>
        <p:grpSpPr>
          <a:xfrm>
            <a:off x="6184892" y="3242692"/>
            <a:ext cx="671808" cy="882239"/>
            <a:chOff x="6184892" y="3227891"/>
            <a:chExt cx="671808" cy="882239"/>
          </a:xfrm>
        </p:grpSpPr>
        <p:cxnSp>
          <p:nvCxnSpPr>
            <p:cNvPr id="31" name="꺾인 연결선[E] 30">
              <a:extLst>
                <a:ext uri="{FF2B5EF4-FFF2-40B4-BE49-F238E27FC236}">
                  <a16:creationId xmlns:a16="http://schemas.microsoft.com/office/drawing/2014/main" id="{ACE8E2D8-51A0-4BD0-4D7B-8AF4F32DC4F5}"/>
                </a:ext>
              </a:extLst>
            </p:cNvPr>
            <p:cNvCxnSpPr>
              <a:stCxn id="17" idx="3"/>
              <a:endCxn id="16" idx="3"/>
            </p:cNvCxnSpPr>
            <p:nvPr/>
          </p:nvCxnSpPr>
          <p:spPr>
            <a:xfrm flipV="1">
              <a:off x="6184892" y="3242692"/>
              <a:ext cx="12700" cy="867438"/>
            </a:xfrm>
            <a:prstGeom prst="bentConnector3">
              <a:avLst>
                <a:gd name="adj1" fmla="val 180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A0DD5945-AEFE-F3D9-82B3-2A7F5E02059D}"/>
                </a:ext>
              </a:extLst>
            </p:cNvPr>
            <p:cNvSpPr txBox="1"/>
            <p:nvPr/>
          </p:nvSpPr>
          <p:spPr>
            <a:xfrm>
              <a:off x="6530970" y="3227891"/>
              <a:ext cx="325730" cy="261610"/>
            </a:xfrm>
            <a:prstGeom prst="rect">
              <a:avLst/>
            </a:prstGeom>
          </p:spPr>
          <p:txBody>
            <a:bodyPr wrap="none" rtlCol="0">
              <a:spAutoFit/>
            </a:bodyPr>
            <a:lstStyle/>
            <a:p>
              <a:r>
                <a:rPr kumimoji="1" lang="en-US" altLang="ko-KR" sz="1100" dirty="0">
                  <a:solidFill>
                    <a:srgbClr val="FF0000"/>
                  </a:solidFill>
                  <a:latin typeface="D2Coding" panose="020B0609020101020101" pitchFamily="49" charset="-127"/>
                  <a:ea typeface="D2Coding" panose="020B0609020101020101" pitchFamily="49" charset="-127"/>
                  <a:cs typeface="Tahoma" pitchFamily="34" charset="0"/>
                </a:rPr>
                <a:t>NO</a:t>
              </a:r>
              <a:endParaRPr kumimoji="1" lang="ko-KR" altLang="en-US" sz="11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Tahoma" pitchFamily="34" charset="0"/>
              </a:endParaRPr>
            </a:p>
          </p:txBody>
        </p:sp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FDBCDAA3-269A-E83C-A1F0-86365E0BC71D}"/>
              </a:ext>
            </a:extLst>
          </p:cNvPr>
          <p:cNvSpPr txBox="1"/>
          <p:nvPr/>
        </p:nvSpPr>
        <p:spPr>
          <a:xfrm>
            <a:off x="5310593" y="1502800"/>
            <a:ext cx="4335602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ko-Kore-KR" altLang="en-US" sz="1200">
                <a:latin typeface="D2Coding" panose="020B0609020101020101" pitchFamily="49" charset="-127"/>
                <a:ea typeface="D2Coding" panose="020B0609020101020101" pitchFamily="49" charset="-127"/>
              </a:rPr>
              <a:t>1~100 사이의 정수 입력:</a:t>
            </a:r>
            <a:r>
              <a:rPr lang="en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" altLang="en-US" sz="1200" dirty="0">
                <a:solidFill>
                  <a:srgbClr val="0066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30</a:t>
            </a:r>
          </a:p>
          <a:p>
            <a:r>
              <a:rPr lang="en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3 + 6 + 9 + 12 + 15 + 18 + 21 + 24 + 27 + 30  = 165</a:t>
            </a:r>
            <a:endParaRPr lang="ko-Kore-KR" altLang="en-US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6638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1" animBg="1"/>
      <p:bldP spid="17" grpId="0" animBg="1"/>
      <p:bldP spid="18" grpId="0" animBg="1"/>
      <p:bldP spid="19" grpId="0" animBg="1"/>
      <p:bldP spid="2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84D45342-DB9C-AFCE-CA3A-66DBA3CC86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kumimoji="1" lang="ko-KR" altLang="en-US" sz="1800" dirty="0"/>
              <a:t>여러 개의 양의 </a:t>
            </a:r>
            <a:r>
              <a:rPr kumimoji="1" lang="ko-KR" altLang="en-US" sz="1800" dirty="0">
                <a:solidFill>
                  <a:srgbClr val="C00000"/>
                </a:solidFill>
              </a:rPr>
              <a:t>정수를 화면에서 입력 </a:t>
            </a:r>
            <a:r>
              <a:rPr kumimoji="1" lang="ko-KR" altLang="en-US" sz="1800" dirty="0"/>
              <a:t>받고</a:t>
            </a:r>
            <a:r>
              <a:rPr kumimoji="1" lang="en-US" altLang="ko-KR" sz="1800" dirty="0"/>
              <a:t>, 0 </a:t>
            </a:r>
            <a:r>
              <a:rPr kumimoji="1" lang="ko-KR" altLang="en-US" sz="1800" dirty="0"/>
              <a:t>또는 음수 입력 시 입력을 종료한 다음 </a:t>
            </a:r>
            <a:r>
              <a:rPr kumimoji="1" lang="ko-KR" altLang="en-US" sz="1800" dirty="0">
                <a:solidFill>
                  <a:srgbClr val="C00000"/>
                </a:solidFill>
              </a:rPr>
              <a:t>전체 합</a:t>
            </a:r>
            <a:r>
              <a:rPr kumimoji="1" lang="ko-KR" altLang="en-US" sz="1800" dirty="0"/>
              <a:t>과 </a:t>
            </a:r>
            <a:r>
              <a:rPr kumimoji="1" lang="ko-KR" altLang="en-US" sz="1800" dirty="0">
                <a:solidFill>
                  <a:srgbClr val="C00000"/>
                </a:solidFill>
              </a:rPr>
              <a:t>평균</a:t>
            </a:r>
            <a:r>
              <a:rPr kumimoji="1" lang="ko-KR" altLang="en-US" sz="1800" dirty="0"/>
              <a:t>을 소수점 첫 째 자리까지 계산하는 프로그램을 </a:t>
            </a:r>
            <a:r>
              <a:rPr kumimoji="1" lang="ko-KR" altLang="en-US" sz="1800" dirty="0" err="1"/>
              <a:t>작성하시오</a:t>
            </a:r>
            <a:r>
              <a:rPr kumimoji="1" lang="en-US" altLang="ko-KR" sz="1800" dirty="0"/>
              <a:t>.(do-while </a:t>
            </a:r>
            <a:r>
              <a:rPr kumimoji="1" lang="ko-KR" altLang="en-US" sz="1800" dirty="0"/>
              <a:t>사용</a:t>
            </a:r>
            <a:r>
              <a:rPr kumimoji="1" lang="en-US" altLang="ko-KR" sz="1800" dirty="0"/>
              <a:t>)</a:t>
            </a:r>
          </a:p>
          <a:p>
            <a:pPr lvl="1"/>
            <a:r>
              <a:rPr kumimoji="1" lang="ko-KR" altLang="en-US" sz="1600" dirty="0"/>
              <a:t>입력한 양의 정수의 개수가 </a:t>
            </a:r>
            <a:r>
              <a:rPr kumimoji="1" lang="en-US" altLang="ko-KR" sz="1600" dirty="0"/>
              <a:t>0</a:t>
            </a:r>
            <a:r>
              <a:rPr kumimoji="1" lang="ko-KR" altLang="en-US" sz="1600" dirty="0"/>
              <a:t>보다 큰 경우에만 총점과 평균을 계산함 </a:t>
            </a:r>
            <a:endParaRPr kumimoji="1" lang="en-US" altLang="ko-KR" sz="1600" dirty="0"/>
          </a:p>
          <a:p>
            <a:pPr lvl="1"/>
            <a:r>
              <a:rPr kumimoji="1" lang="ko-KR" altLang="en-US" sz="1600" dirty="0"/>
              <a:t>입력한 양의 정수의 개수가 </a:t>
            </a:r>
            <a:r>
              <a:rPr kumimoji="1" lang="en-US" altLang="ko-KR" sz="1600" dirty="0"/>
              <a:t>0</a:t>
            </a:r>
            <a:r>
              <a:rPr kumimoji="1" lang="ko-KR" altLang="en-US" sz="1600" dirty="0"/>
              <a:t>인 경우</a:t>
            </a:r>
            <a:r>
              <a:rPr kumimoji="1" lang="en-US" altLang="ko-KR" sz="1600" dirty="0"/>
              <a:t>, </a:t>
            </a:r>
            <a:r>
              <a:rPr kumimoji="1" lang="en-US" altLang="ko-KR" sz="1600" dirty="0">
                <a:solidFill>
                  <a:srgbClr val="0066FF"/>
                </a:solidFill>
              </a:rPr>
              <a:t>”</a:t>
            </a:r>
            <a:r>
              <a:rPr kumimoji="1" lang="ko-KR" altLang="en-US" sz="1600" dirty="0">
                <a:solidFill>
                  <a:srgbClr val="0066FF"/>
                </a:solidFill>
              </a:rPr>
              <a:t>입력한 양의 정수가 없습니다</a:t>
            </a:r>
            <a:r>
              <a:rPr kumimoji="1" lang="en-US" altLang="ko-KR" sz="1600" dirty="0">
                <a:solidFill>
                  <a:srgbClr val="0066FF"/>
                </a:solidFill>
              </a:rPr>
              <a:t>.” </a:t>
            </a:r>
            <a:r>
              <a:rPr kumimoji="1" lang="ko-KR" altLang="en-US" sz="1600" dirty="0"/>
              <a:t>출력 후 종료</a:t>
            </a:r>
            <a:endParaRPr kumimoji="1" lang="en-US" altLang="ko-KR" sz="1600" dirty="0"/>
          </a:p>
          <a:p>
            <a:pPr lvl="1"/>
            <a:endParaRPr kumimoji="1" lang="en-US" altLang="ko-KR" sz="1600" dirty="0"/>
          </a:p>
          <a:p>
            <a:pPr lvl="1"/>
            <a:endParaRPr kumimoji="1" lang="en-US" altLang="ko-KR" sz="1600" dirty="0"/>
          </a:p>
          <a:p>
            <a:r>
              <a:rPr kumimoji="1" lang="ko-KR" altLang="en-US" sz="1800" dirty="0"/>
              <a:t>문제 분해 과정</a:t>
            </a:r>
            <a:endParaRPr kumimoji="1" lang="en-US" altLang="ko-KR" sz="1800" dirty="0"/>
          </a:p>
          <a:p>
            <a:pPr lvl="1"/>
            <a:r>
              <a:rPr kumimoji="1" lang="en-US" altLang="ko-KR" sz="1600" b="1" dirty="0"/>
              <a:t>Step 0:</a:t>
            </a:r>
            <a:r>
              <a:rPr kumimoji="1" lang="en-US" altLang="ko-KR" sz="1600" dirty="0"/>
              <a:t> </a:t>
            </a:r>
            <a:r>
              <a:rPr kumimoji="1" lang="ko-KR" altLang="en-US" sz="1600" dirty="0">
                <a:solidFill>
                  <a:srgbClr val="0066FF"/>
                </a:solidFill>
              </a:rPr>
              <a:t>필요한 변수</a:t>
            </a:r>
            <a:r>
              <a:rPr kumimoji="1" lang="en-US" altLang="ko-KR" sz="1600" dirty="0">
                <a:solidFill>
                  <a:srgbClr val="0066FF"/>
                </a:solidFill>
              </a:rPr>
              <a:t> </a:t>
            </a:r>
            <a:r>
              <a:rPr kumimoji="1" lang="ko-KR" altLang="en-US" sz="1600" dirty="0">
                <a:solidFill>
                  <a:srgbClr val="0066FF"/>
                </a:solidFill>
              </a:rPr>
              <a:t>선언 및 초기화</a:t>
            </a:r>
            <a:r>
              <a:rPr kumimoji="1" lang="en-US" altLang="ko-KR" sz="1600" dirty="0">
                <a:solidFill>
                  <a:srgbClr val="0066FF"/>
                </a:solidFill>
              </a:rPr>
              <a:t>: </a:t>
            </a:r>
            <a:r>
              <a:rPr kumimoji="1" lang="ko-KR" altLang="en-US" sz="1600" dirty="0">
                <a:solidFill>
                  <a:srgbClr val="0066FF"/>
                </a:solidFill>
              </a:rPr>
              <a:t>정수</a:t>
            </a:r>
            <a:r>
              <a:rPr kumimoji="1" lang="en-US" altLang="ko-KR" sz="1600" dirty="0">
                <a:solidFill>
                  <a:srgbClr val="0066FF"/>
                </a:solidFill>
              </a:rPr>
              <a:t>(num), </a:t>
            </a:r>
            <a:r>
              <a:rPr kumimoji="1" lang="ko-KR" altLang="en-US" sz="1600" dirty="0">
                <a:solidFill>
                  <a:srgbClr val="0066FF"/>
                </a:solidFill>
              </a:rPr>
              <a:t>전체 합</a:t>
            </a:r>
            <a:r>
              <a:rPr kumimoji="1" lang="en-US" altLang="ko-KR" sz="1600" dirty="0">
                <a:solidFill>
                  <a:srgbClr val="0066FF"/>
                </a:solidFill>
              </a:rPr>
              <a:t>(sum), </a:t>
            </a:r>
            <a:r>
              <a:rPr kumimoji="1" lang="ko-KR" altLang="en-US" sz="1600" dirty="0">
                <a:solidFill>
                  <a:srgbClr val="0066FF"/>
                </a:solidFill>
              </a:rPr>
              <a:t>평균</a:t>
            </a:r>
            <a:r>
              <a:rPr kumimoji="1" lang="en-US" altLang="ko-KR" sz="1600" dirty="0">
                <a:solidFill>
                  <a:srgbClr val="0066FF"/>
                </a:solidFill>
              </a:rPr>
              <a:t>(avg)</a:t>
            </a:r>
          </a:p>
          <a:p>
            <a:pPr lvl="2"/>
            <a:r>
              <a:rPr kumimoji="1" lang="ko-KR" altLang="en-US" sz="1400" dirty="0">
                <a:solidFill>
                  <a:schemeClr val="tx1"/>
                </a:solidFill>
              </a:rPr>
              <a:t>평균 계산</a:t>
            </a:r>
            <a:r>
              <a:rPr kumimoji="1" lang="en-US" altLang="ko-KR" sz="1400" dirty="0">
                <a:solidFill>
                  <a:schemeClr val="tx1"/>
                </a:solidFill>
              </a:rPr>
              <a:t>: </a:t>
            </a:r>
            <a:r>
              <a:rPr kumimoji="1" lang="ko-KR" altLang="en-US" sz="1400" dirty="0">
                <a:solidFill>
                  <a:schemeClr val="tx1"/>
                </a:solidFill>
              </a:rPr>
              <a:t>입력한 정수의 개수가 필요</a:t>
            </a:r>
            <a:r>
              <a:rPr kumimoji="1" lang="en-US" altLang="ko-KR" sz="1400" dirty="0">
                <a:solidFill>
                  <a:schemeClr val="tx1"/>
                </a:solidFill>
              </a:rPr>
              <a:t>(count=0 </a:t>
            </a:r>
            <a:r>
              <a:rPr kumimoji="1" lang="ko-KR" altLang="en-US" sz="1400" dirty="0">
                <a:solidFill>
                  <a:schemeClr val="tx1"/>
                </a:solidFill>
              </a:rPr>
              <a:t>변수 선언</a:t>
            </a:r>
            <a:r>
              <a:rPr kumimoji="1" lang="en-US" altLang="ko-KR" sz="1400" dirty="0">
                <a:solidFill>
                  <a:schemeClr val="tx1"/>
                </a:solidFill>
              </a:rPr>
              <a:t>)</a:t>
            </a:r>
          </a:p>
          <a:p>
            <a:pPr lvl="1"/>
            <a:endParaRPr kumimoji="1" lang="en-US" altLang="ko-KR" sz="1600" b="1" dirty="0"/>
          </a:p>
          <a:p>
            <a:pPr lvl="1"/>
            <a:r>
              <a:rPr kumimoji="1" lang="en-US" altLang="ko-KR" sz="1600" b="1" dirty="0"/>
              <a:t>Step 1:</a:t>
            </a:r>
            <a:r>
              <a:rPr kumimoji="1" lang="en-US" altLang="ko-KR" sz="1600" dirty="0"/>
              <a:t> </a:t>
            </a:r>
            <a:r>
              <a:rPr kumimoji="1" lang="ko-KR" altLang="en-US" sz="1600" dirty="0">
                <a:solidFill>
                  <a:srgbClr val="0066FF"/>
                </a:solidFill>
              </a:rPr>
              <a:t>정수</a:t>
            </a:r>
            <a:r>
              <a:rPr kumimoji="1" lang="en-US" altLang="ko-KR" sz="1600" dirty="0">
                <a:solidFill>
                  <a:srgbClr val="0066FF"/>
                </a:solidFill>
              </a:rPr>
              <a:t>(num)</a:t>
            </a:r>
            <a:r>
              <a:rPr kumimoji="1" lang="ko-KR" altLang="en-US" sz="1600" dirty="0">
                <a:solidFill>
                  <a:srgbClr val="0066FF"/>
                </a:solidFill>
              </a:rPr>
              <a:t> 화면 입력</a:t>
            </a:r>
            <a:endParaRPr kumimoji="1" lang="en-US" altLang="ko-KR" sz="1600" dirty="0">
              <a:solidFill>
                <a:srgbClr val="0066FF"/>
              </a:solidFill>
            </a:endParaRPr>
          </a:p>
          <a:p>
            <a:pPr lvl="1"/>
            <a:endParaRPr kumimoji="1" lang="en-US" altLang="ko-KR" sz="1600" b="1" dirty="0"/>
          </a:p>
          <a:p>
            <a:pPr lvl="1"/>
            <a:r>
              <a:rPr kumimoji="1" lang="en-US" altLang="ko-KR" sz="1600" b="1" dirty="0"/>
              <a:t>Step 2:</a:t>
            </a:r>
            <a:r>
              <a:rPr kumimoji="1" lang="en-US" altLang="ko-KR" sz="1600" dirty="0"/>
              <a:t> </a:t>
            </a:r>
            <a:r>
              <a:rPr kumimoji="1" lang="en-US" altLang="ko-KR" sz="1600" dirty="0">
                <a:solidFill>
                  <a:srgbClr val="0066FF"/>
                </a:solidFill>
              </a:rPr>
              <a:t>num &lt;= 0</a:t>
            </a:r>
            <a:r>
              <a:rPr kumimoji="1" lang="ko-KR" altLang="en-US" sz="1600" dirty="0">
                <a:solidFill>
                  <a:srgbClr val="0066FF"/>
                </a:solidFill>
              </a:rPr>
              <a:t> 이면</a:t>
            </a:r>
            <a:r>
              <a:rPr kumimoji="1" lang="en-US" altLang="ko-KR" sz="1600" dirty="0">
                <a:solidFill>
                  <a:srgbClr val="0066FF"/>
                </a:solidFill>
              </a:rPr>
              <a:t>,</a:t>
            </a:r>
          </a:p>
          <a:p>
            <a:pPr lvl="2"/>
            <a:r>
              <a:rPr kumimoji="1" lang="en-US" altLang="ko-KR" sz="1400" dirty="0">
                <a:solidFill>
                  <a:schemeClr val="tx1"/>
                </a:solidFill>
              </a:rPr>
              <a:t>do-while</a:t>
            </a:r>
            <a:r>
              <a:rPr kumimoji="1" lang="ko-KR" altLang="en-US" sz="1400" dirty="0">
                <a:solidFill>
                  <a:schemeClr val="tx1"/>
                </a:solidFill>
              </a:rPr>
              <a:t>문 빠져나감 </a:t>
            </a:r>
            <a:endParaRPr kumimoji="1" lang="en-US" altLang="ko-KR" sz="1400" dirty="0">
              <a:solidFill>
                <a:schemeClr val="tx1"/>
              </a:solidFill>
            </a:endParaRPr>
          </a:p>
          <a:p>
            <a:pPr lvl="2"/>
            <a:r>
              <a:rPr kumimoji="1" lang="en-US" altLang="ko-KR" sz="1400" dirty="0">
                <a:solidFill>
                  <a:schemeClr val="tx1"/>
                </a:solidFill>
              </a:rPr>
              <a:t>count</a:t>
            </a:r>
            <a:r>
              <a:rPr kumimoji="1" lang="ko-KR" altLang="en-US" sz="1400" dirty="0">
                <a:solidFill>
                  <a:schemeClr val="tx1"/>
                </a:solidFill>
              </a:rPr>
              <a:t>값은 </a:t>
            </a:r>
            <a:r>
              <a:rPr kumimoji="1" lang="en-US" altLang="ko-KR" sz="1400" dirty="0">
                <a:solidFill>
                  <a:schemeClr val="tx1"/>
                </a:solidFill>
              </a:rPr>
              <a:t>0</a:t>
            </a:r>
            <a:r>
              <a:rPr kumimoji="1" lang="ko-KR" altLang="en-US" sz="1400" dirty="0">
                <a:solidFill>
                  <a:schemeClr val="tx1"/>
                </a:solidFill>
              </a:rPr>
              <a:t>이면</a:t>
            </a:r>
            <a:r>
              <a:rPr kumimoji="1" lang="en-US" altLang="ko-KR" sz="1400" dirty="0">
                <a:solidFill>
                  <a:schemeClr val="tx1"/>
                </a:solidFill>
              </a:rPr>
              <a:t>, sum </a:t>
            </a:r>
            <a:r>
              <a:rPr kumimoji="1" lang="ko-KR" altLang="en-US" sz="1400" dirty="0">
                <a:solidFill>
                  <a:schemeClr val="tx1"/>
                </a:solidFill>
              </a:rPr>
              <a:t>및 </a:t>
            </a:r>
            <a:r>
              <a:rPr kumimoji="1" lang="en-US" altLang="ko-KR" sz="1400" dirty="0">
                <a:solidFill>
                  <a:schemeClr val="tx1"/>
                </a:solidFill>
              </a:rPr>
              <a:t>avg </a:t>
            </a:r>
            <a:r>
              <a:rPr kumimoji="1" lang="ko-KR" altLang="en-US" sz="1400" dirty="0">
                <a:solidFill>
                  <a:schemeClr val="tx1"/>
                </a:solidFill>
              </a:rPr>
              <a:t>계산하지 않음</a:t>
            </a:r>
            <a:r>
              <a:rPr kumimoji="1" lang="en-US" altLang="ko-KR" sz="1400" dirty="0">
                <a:solidFill>
                  <a:schemeClr val="tx1"/>
                </a:solidFill>
              </a:rPr>
              <a:t>: </a:t>
            </a:r>
            <a:r>
              <a:rPr kumimoji="1" lang="ko-KR" altLang="en-US" sz="1400" dirty="0">
                <a:solidFill>
                  <a:schemeClr val="tx1"/>
                </a:solidFill>
              </a:rPr>
              <a:t> </a:t>
            </a:r>
            <a:r>
              <a:rPr kumimoji="1" lang="en-US" altLang="ko-KR" sz="1400" dirty="0">
                <a:solidFill>
                  <a:schemeClr val="tx1"/>
                </a:solidFill>
              </a:rPr>
              <a:t>“</a:t>
            </a:r>
            <a:r>
              <a:rPr kumimoji="1" lang="ko-KR" altLang="en-US" sz="1400" dirty="0">
                <a:solidFill>
                  <a:schemeClr val="tx1"/>
                </a:solidFill>
              </a:rPr>
              <a:t>입력한 양의 정수가 없습니다</a:t>
            </a:r>
            <a:r>
              <a:rPr kumimoji="1" lang="en-US" altLang="ko-KR" sz="1400" dirty="0">
                <a:solidFill>
                  <a:schemeClr val="tx1"/>
                </a:solidFill>
              </a:rPr>
              <a:t>” </a:t>
            </a:r>
            <a:r>
              <a:rPr kumimoji="1" lang="ko-KR" altLang="en-US" sz="1400" dirty="0">
                <a:solidFill>
                  <a:schemeClr val="tx1"/>
                </a:solidFill>
              </a:rPr>
              <a:t>출력 후 종료</a:t>
            </a:r>
            <a:endParaRPr kumimoji="1" lang="en-US" altLang="ko-KR" sz="1400" dirty="0">
              <a:solidFill>
                <a:schemeClr val="tx1"/>
              </a:solidFill>
            </a:endParaRPr>
          </a:p>
          <a:p>
            <a:pPr lvl="2"/>
            <a:r>
              <a:rPr kumimoji="1" lang="en-US" altLang="ko-KR" sz="1400" dirty="0">
                <a:solidFill>
                  <a:schemeClr val="tx1"/>
                </a:solidFill>
              </a:rPr>
              <a:t>count</a:t>
            </a:r>
            <a:r>
              <a:rPr kumimoji="1" lang="ko-KR" altLang="en-US" sz="1400" dirty="0">
                <a:solidFill>
                  <a:schemeClr val="tx1"/>
                </a:solidFill>
              </a:rPr>
              <a:t>값 </a:t>
            </a:r>
            <a:r>
              <a:rPr kumimoji="1" lang="en-US" altLang="ko-KR" sz="1400" dirty="0">
                <a:solidFill>
                  <a:schemeClr val="tx1"/>
                </a:solidFill>
              </a:rPr>
              <a:t>&gt; 0</a:t>
            </a:r>
            <a:r>
              <a:rPr kumimoji="1" lang="ko-KR" altLang="en-US" sz="1400" dirty="0">
                <a:solidFill>
                  <a:schemeClr val="tx1"/>
                </a:solidFill>
              </a:rPr>
              <a:t>이면</a:t>
            </a:r>
            <a:r>
              <a:rPr kumimoji="1" lang="en-US" altLang="ko-KR" sz="1400" dirty="0">
                <a:solidFill>
                  <a:schemeClr val="tx1"/>
                </a:solidFill>
              </a:rPr>
              <a:t>, sum </a:t>
            </a:r>
            <a:r>
              <a:rPr kumimoji="1" lang="ko-KR" altLang="en-US" sz="1400" dirty="0">
                <a:solidFill>
                  <a:schemeClr val="tx1"/>
                </a:solidFill>
              </a:rPr>
              <a:t>및 </a:t>
            </a:r>
            <a:r>
              <a:rPr kumimoji="1" lang="en-US" altLang="ko-KR" sz="1400" dirty="0">
                <a:solidFill>
                  <a:schemeClr val="tx1"/>
                </a:solidFill>
              </a:rPr>
              <a:t>avg = sum/count </a:t>
            </a:r>
            <a:r>
              <a:rPr kumimoji="1" lang="ko-KR" altLang="en-US" sz="1400" dirty="0">
                <a:solidFill>
                  <a:schemeClr val="tx1"/>
                </a:solidFill>
              </a:rPr>
              <a:t>계산 및 출력 </a:t>
            </a:r>
            <a:endParaRPr kumimoji="1" lang="en-US" altLang="ko-KR" sz="1400" dirty="0">
              <a:solidFill>
                <a:schemeClr val="tx1"/>
              </a:solidFill>
            </a:endParaRPr>
          </a:p>
          <a:p>
            <a:pPr lvl="1"/>
            <a:endParaRPr kumimoji="1" lang="en-US" altLang="ko-KR" sz="1600" b="1" dirty="0"/>
          </a:p>
          <a:p>
            <a:pPr lvl="1"/>
            <a:r>
              <a:rPr kumimoji="1" lang="en-US" altLang="ko-KR" sz="1600" b="1" dirty="0"/>
              <a:t>Step 3:</a:t>
            </a:r>
            <a:r>
              <a:rPr kumimoji="1" lang="en-US" altLang="ko-KR" sz="1600" dirty="0"/>
              <a:t> </a:t>
            </a:r>
            <a:r>
              <a:rPr kumimoji="1" lang="en-US" altLang="ko-KR" sz="1600" dirty="0">
                <a:solidFill>
                  <a:srgbClr val="0066FF"/>
                </a:solidFill>
              </a:rPr>
              <a:t>num</a:t>
            </a:r>
            <a:r>
              <a:rPr kumimoji="1" lang="ko-KR" altLang="en-US" sz="1600" dirty="0">
                <a:solidFill>
                  <a:srgbClr val="0066FF"/>
                </a:solidFill>
              </a:rPr>
              <a:t> </a:t>
            </a:r>
            <a:r>
              <a:rPr kumimoji="1" lang="en-US" altLang="ko-KR" sz="1600" dirty="0">
                <a:solidFill>
                  <a:srgbClr val="0066FF"/>
                </a:solidFill>
              </a:rPr>
              <a:t>&gt; 0 </a:t>
            </a:r>
            <a:r>
              <a:rPr kumimoji="1" lang="ko-KR" altLang="en-US" sz="1600" dirty="0">
                <a:solidFill>
                  <a:srgbClr val="0066FF"/>
                </a:solidFill>
              </a:rPr>
              <a:t>이면</a:t>
            </a:r>
            <a:r>
              <a:rPr kumimoji="1" lang="en-US" altLang="ko-KR" sz="1600" dirty="0">
                <a:solidFill>
                  <a:srgbClr val="0066FF"/>
                </a:solidFill>
              </a:rPr>
              <a:t>,</a:t>
            </a:r>
            <a:r>
              <a:rPr kumimoji="1" lang="ko-KR" altLang="en-US" sz="1600" dirty="0">
                <a:solidFill>
                  <a:srgbClr val="0066FF"/>
                </a:solidFill>
              </a:rPr>
              <a:t> </a:t>
            </a:r>
            <a:endParaRPr kumimoji="1" lang="en-US" altLang="ko-KR" sz="1600" dirty="0">
              <a:solidFill>
                <a:srgbClr val="0066FF"/>
              </a:solidFill>
            </a:endParaRPr>
          </a:p>
          <a:p>
            <a:pPr lvl="2"/>
            <a:r>
              <a:rPr kumimoji="1" lang="en-US" altLang="ko-KR" sz="1400" dirty="0">
                <a:solidFill>
                  <a:schemeClr val="tx1"/>
                </a:solidFill>
              </a:rPr>
              <a:t>sum = sum + num (num</a:t>
            </a:r>
            <a:r>
              <a:rPr kumimoji="1" lang="ko-KR" altLang="en-US" sz="1400" dirty="0">
                <a:solidFill>
                  <a:schemeClr val="tx1"/>
                </a:solidFill>
              </a:rPr>
              <a:t>값 누적</a:t>
            </a:r>
            <a:r>
              <a:rPr kumimoji="1" lang="en-US" altLang="ko-KR" sz="1400" dirty="0">
                <a:solidFill>
                  <a:schemeClr val="tx1"/>
                </a:solidFill>
              </a:rPr>
              <a:t>)</a:t>
            </a:r>
            <a:r>
              <a:rPr kumimoji="1" lang="ko-KR" altLang="en-US" sz="1400" dirty="0">
                <a:solidFill>
                  <a:schemeClr val="tx1"/>
                </a:solidFill>
              </a:rPr>
              <a:t> 및 </a:t>
            </a:r>
            <a:r>
              <a:rPr kumimoji="1" lang="en-US" altLang="ko-KR" sz="1400" dirty="0">
                <a:solidFill>
                  <a:schemeClr val="tx1"/>
                </a:solidFill>
              </a:rPr>
              <a:t>count</a:t>
            </a:r>
            <a:r>
              <a:rPr kumimoji="1" lang="ko-KR" altLang="en-US" sz="1400" dirty="0">
                <a:solidFill>
                  <a:schemeClr val="tx1"/>
                </a:solidFill>
              </a:rPr>
              <a:t>값 증가</a:t>
            </a:r>
            <a:r>
              <a:rPr kumimoji="1" lang="en-US" altLang="ko-KR" sz="1400" dirty="0">
                <a:solidFill>
                  <a:schemeClr val="tx1"/>
                </a:solidFill>
              </a:rPr>
              <a:t>(count++)</a:t>
            </a:r>
          </a:p>
          <a:p>
            <a:pPr lvl="1"/>
            <a:endParaRPr kumimoji="1" lang="en-US" altLang="ko-KR" sz="1600" b="1" dirty="0"/>
          </a:p>
          <a:p>
            <a:pPr lvl="1"/>
            <a:r>
              <a:rPr kumimoji="1" lang="en-US" altLang="ko-KR" sz="1600" b="1" dirty="0"/>
              <a:t>Step 4:</a:t>
            </a:r>
            <a:r>
              <a:rPr kumimoji="1" lang="en-US" altLang="ko-KR" sz="1600" dirty="0"/>
              <a:t> </a:t>
            </a:r>
            <a:r>
              <a:rPr kumimoji="1" lang="en-US" altLang="ko-KR" sz="1600" dirty="0">
                <a:solidFill>
                  <a:srgbClr val="0066FF"/>
                </a:solidFill>
              </a:rPr>
              <a:t>num</a:t>
            </a:r>
            <a:r>
              <a:rPr kumimoji="1" lang="ko-KR" altLang="en-US" sz="1600" dirty="0">
                <a:solidFill>
                  <a:srgbClr val="0066FF"/>
                </a:solidFill>
              </a:rPr>
              <a:t> </a:t>
            </a:r>
            <a:r>
              <a:rPr kumimoji="1" lang="en-US" altLang="ko-KR" sz="1600" dirty="0">
                <a:solidFill>
                  <a:srgbClr val="0066FF"/>
                </a:solidFill>
              </a:rPr>
              <a:t>&gt; 0 </a:t>
            </a:r>
            <a:r>
              <a:rPr kumimoji="1" lang="ko-KR" altLang="en-US" sz="1600" dirty="0">
                <a:solidFill>
                  <a:srgbClr val="0066FF"/>
                </a:solidFill>
              </a:rPr>
              <a:t>이면 </a:t>
            </a:r>
            <a:r>
              <a:rPr kumimoji="1" lang="en-US" altLang="ko-KR" sz="1600" dirty="0">
                <a:solidFill>
                  <a:srgbClr val="0066FF"/>
                </a:solidFill>
              </a:rPr>
              <a:t>Step1 </a:t>
            </a:r>
            <a:r>
              <a:rPr kumimoji="1" lang="ko-KR" altLang="en-US" sz="1600" dirty="0">
                <a:solidFill>
                  <a:srgbClr val="0066FF"/>
                </a:solidFill>
              </a:rPr>
              <a:t>반복 </a:t>
            </a:r>
            <a:endParaRPr kumimoji="1" lang="en-US" altLang="ko-KR" sz="1600" dirty="0">
              <a:solidFill>
                <a:srgbClr val="0066FF"/>
              </a:solidFill>
            </a:endParaRPr>
          </a:p>
          <a:p>
            <a:pPr lvl="2"/>
            <a:endParaRPr kumimoji="1" lang="en-US" altLang="ko-KR" sz="1400" dirty="0"/>
          </a:p>
          <a:p>
            <a:endParaRPr kumimoji="1" lang="en-US" altLang="en-US" sz="1800" dirty="0"/>
          </a:p>
          <a:p>
            <a:endParaRPr kumimoji="1" lang="en-US" altLang="ko-KR" sz="1800" dirty="0"/>
          </a:p>
          <a:p>
            <a:endParaRPr kumimoji="1" lang="en-US" altLang="ko-KR" sz="1800" dirty="0"/>
          </a:p>
          <a:p>
            <a:pPr lvl="1"/>
            <a:endParaRPr kumimoji="1" lang="ko-KR" altLang="en-US" sz="1600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D35F950A-5335-F34B-C66C-0093FE1D16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문제 </a:t>
            </a:r>
            <a:r>
              <a:rPr kumimoji="1" lang="en-US" altLang="ko-KR" dirty="0"/>
              <a:t>3. </a:t>
            </a:r>
            <a:r>
              <a:rPr kumimoji="1" lang="ko-KR" altLang="en-US" dirty="0"/>
              <a:t>성적 계산 프로그램</a:t>
            </a:r>
            <a:r>
              <a:rPr kumimoji="1" lang="en-US" altLang="ko-KR" dirty="0"/>
              <a:t>: Decomposition(</a:t>
            </a:r>
            <a:r>
              <a:rPr kumimoji="1" lang="ko-KR" altLang="en-US" dirty="0"/>
              <a:t>문제 분해</a:t>
            </a:r>
            <a:r>
              <a:rPr kumimoji="1" lang="en-US" altLang="ko-KR" dirty="0"/>
              <a:t>) </a:t>
            </a:r>
            <a:endParaRPr kumimoji="1"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1BCC46-F044-C1DA-7B93-FD227B4E9ED4}"/>
              </a:ext>
            </a:extLst>
          </p:cNvPr>
          <p:cNvSpPr txBox="1"/>
          <p:nvPr/>
        </p:nvSpPr>
        <p:spPr>
          <a:xfrm>
            <a:off x="9662605" y="1653043"/>
            <a:ext cx="2014734" cy="138499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ko-Kore-KR" altLang="en-US" sz="1200">
                <a:latin typeface="D2Coding" panose="020B0609020101020101" pitchFamily="49" charset="-127"/>
                <a:ea typeface="D2Coding" panose="020B0609020101020101" pitchFamily="49" charset="-127"/>
              </a:rPr>
              <a:t>정수를 입력하세요: </a:t>
            </a:r>
            <a:r>
              <a:rPr lang="ko-Kore-KR" altLang="en-US" sz="1200">
                <a:solidFill>
                  <a:srgbClr val="0066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5</a:t>
            </a:r>
          </a:p>
          <a:p>
            <a:r>
              <a:rPr lang="ko-Kore-KR" altLang="en-US" sz="1200">
                <a:latin typeface="D2Coding" panose="020B0609020101020101" pitchFamily="49" charset="-127"/>
                <a:ea typeface="D2Coding" panose="020B0609020101020101" pitchFamily="49" charset="-127"/>
              </a:rPr>
              <a:t>정수를 입력하세요: </a:t>
            </a:r>
            <a:r>
              <a:rPr lang="ko-Kore-KR" altLang="en-US" sz="1200">
                <a:solidFill>
                  <a:srgbClr val="0066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7</a:t>
            </a:r>
          </a:p>
          <a:p>
            <a:r>
              <a:rPr lang="ko-Kore-KR" altLang="en-US" sz="1200">
                <a:latin typeface="D2Coding" panose="020B0609020101020101" pitchFamily="49" charset="-127"/>
                <a:ea typeface="D2Coding" panose="020B0609020101020101" pitchFamily="49" charset="-127"/>
              </a:rPr>
              <a:t>정수를 입력하세요: </a:t>
            </a:r>
            <a:r>
              <a:rPr lang="ko-Kore-KR" altLang="en-US" sz="1200">
                <a:solidFill>
                  <a:srgbClr val="0066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3</a:t>
            </a:r>
          </a:p>
          <a:p>
            <a:r>
              <a:rPr lang="ko-Kore-KR" altLang="en-US" sz="1200">
                <a:latin typeface="D2Coding" panose="020B0609020101020101" pitchFamily="49" charset="-127"/>
                <a:ea typeface="D2Coding" panose="020B0609020101020101" pitchFamily="49" charset="-127"/>
              </a:rPr>
              <a:t>정수를 입력하세요: </a:t>
            </a:r>
            <a:r>
              <a:rPr lang="ko-Kore-KR" altLang="en-US" sz="1200">
                <a:solidFill>
                  <a:srgbClr val="0066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10</a:t>
            </a:r>
          </a:p>
          <a:p>
            <a:r>
              <a:rPr lang="ko-Kore-KR" altLang="en-US" sz="1200">
                <a:latin typeface="D2Coding" panose="020B0609020101020101" pitchFamily="49" charset="-127"/>
                <a:ea typeface="D2Coding" panose="020B0609020101020101" pitchFamily="49" charset="-127"/>
              </a:rPr>
              <a:t>정수를 입력하세요: </a:t>
            </a:r>
            <a:r>
              <a:rPr lang="ko-Kore-KR" altLang="en-US" sz="1200">
                <a:solidFill>
                  <a:srgbClr val="0066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0</a:t>
            </a:r>
          </a:p>
          <a:p>
            <a:r>
              <a:rPr lang="ko-Kore-KR" altLang="en-US" sz="1200">
                <a:latin typeface="D2Coding" panose="020B0609020101020101" pitchFamily="49" charset="-127"/>
                <a:ea typeface="D2Coding" panose="020B0609020101020101" pitchFamily="49" charset="-127"/>
              </a:rPr>
              <a:t>합계: 25</a:t>
            </a:r>
          </a:p>
          <a:p>
            <a:r>
              <a:rPr lang="ko-Kore-KR" altLang="en-US" sz="1200">
                <a:latin typeface="D2Coding" panose="020B0609020101020101" pitchFamily="49" charset="-127"/>
                <a:ea typeface="D2Coding" panose="020B0609020101020101" pitchFamily="49" charset="-127"/>
              </a:rPr>
              <a:t>평균: 6.2</a:t>
            </a:r>
            <a:endParaRPr lang="ko-Kore-KR" altLang="en-US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973468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F8549E2C-A2BD-166F-BF2C-C590590BF8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5299" y="1118254"/>
            <a:ext cx="11471803" cy="684241"/>
          </a:xfrm>
        </p:spPr>
        <p:txBody>
          <a:bodyPr/>
          <a:lstStyle/>
          <a:p>
            <a:r>
              <a:rPr kumimoji="1" lang="ko-KR" altLang="en-US" sz="1600" dirty="0"/>
              <a:t>여러 개의 양의 정수를 화면에서 입력 받고</a:t>
            </a:r>
            <a:r>
              <a:rPr kumimoji="1" lang="en-US" altLang="ko-KR" sz="1600" dirty="0"/>
              <a:t>, 0 </a:t>
            </a:r>
            <a:r>
              <a:rPr kumimoji="1" lang="ko-KR" altLang="en-US" sz="1600" dirty="0"/>
              <a:t>또는 음수 입력 시 입력을 종료한 다음 전체 합과 평균을 소수점 첫 째 자리까지 계산하는 프로그램을 </a:t>
            </a:r>
            <a:r>
              <a:rPr kumimoji="1" lang="ko-KR" altLang="en-US" sz="1600" dirty="0" err="1"/>
              <a:t>작성하시오</a:t>
            </a:r>
            <a:r>
              <a:rPr kumimoji="1" lang="en-US" altLang="ko-KR" sz="1600" dirty="0"/>
              <a:t>.</a:t>
            </a:r>
          </a:p>
          <a:p>
            <a:endParaRPr kumimoji="1"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717D56A8-4008-A377-DD7A-C2DC623A8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문제 </a:t>
            </a:r>
            <a:r>
              <a:rPr kumimoji="1" lang="en-US" altLang="ko-KR" dirty="0"/>
              <a:t>3. </a:t>
            </a:r>
            <a:r>
              <a:rPr kumimoji="1" lang="ko-KR" altLang="en-US" dirty="0"/>
              <a:t>성적 계산 프로그램 </a:t>
            </a:r>
            <a:r>
              <a:rPr kumimoji="1" lang="en-US" altLang="ko-KR" dirty="0"/>
              <a:t>(do-while</a:t>
            </a:r>
            <a:r>
              <a:rPr kumimoji="1" lang="ko-KR" altLang="en-US" dirty="0"/>
              <a:t> 사용</a:t>
            </a:r>
            <a:r>
              <a:rPr kumimoji="1" lang="en-US" altLang="ko-KR" dirty="0"/>
              <a:t>) </a:t>
            </a:r>
            <a:endParaRPr kumimoji="1"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F291AD-ED0A-9FA1-2C83-E175AF9BBB0C}"/>
              </a:ext>
            </a:extLst>
          </p:cNvPr>
          <p:cNvSpPr txBox="1"/>
          <p:nvPr/>
        </p:nvSpPr>
        <p:spPr>
          <a:xfrm>
            <a:off x="9877282" y="1492448"/>
            <a:ext cx="1968286" cy="138499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ko-Kore-KR" altLang="en-US" sz="1200">
                <a:latin typeface="D2Coding" panose="020B0609020101020101" pitchFamily="49" charset="-127"/>
                <a:ea typeface="D2Coding" panose="020B0609020101020101" pitchFamily="49" charset="-127"/>
              </a:rPr>
              <a:t>정수를 입력하세요: </a:t>
            </a:r>
            <a:r>
              <a:rPr lang="ko-Kore-KR" altLang="en-US" sz="1200">
                <a:solidFill>
                  <a:srgbClr val="0066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5</a:t>
            </a:r>
          </a:p>
          <a:p>
            <a:r>
              <a:rPr lang="ko-Kore-KR" altLang="en-US" sz="1200">
                <a:latin typeface="D2Coding" panose="020B0609020101020101" pitchFamily="49" charset="-127"/>
                <a:ea typeface="D2Coding" panose="020B0609020101020101" pitchFamily="49" charset="-127"/>
              </a:rPr>
              <a:t>정수를 입력하세요: </a:t>
            </a:r>
            <a:r>
              <a:rPr lang="ko-Kore-KR" altLang="en-US" sz="1200">
                <a:solidFill>
                  <a:srgbClr val="0066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7</a:t>
            </a:r>
          </a:p>
          <a:p>
            <a:r>
              <a:rPr lang="ko-Kore-KR" altLang="en-US" sz="1200">
                <a:latin typeface="D2Coding" panose="020B0609020101020101" pitchFamily="49" charset="-127"/>
                <a:ea typeface="D2Coding" panose="020B0609020101020101" pitchFamily="49" charset="-127"/>
              </a:rPr>
              <a:t>정수를 입력하세요: </a:t>
            </a:r>
            <a:r>
              <a:rPr lang="ko-Kore-KR" altLang="en-US" sz="1200">
                <a:solidFill>
                  <a:srgbClr val="0066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3</a:t>
            </a:r>
          </a:p>
          <a:p>
            <a:r>
              <a:rPr lang="ko-Kore-KR" altLang="en-US" sz="1200">
                <a:latin typeface="D2Coding" panose="020B0609020101020101" pitchFamily="49" charset="-127"/>
                <a:ea typeface="D2Coding" panose="020B0609020101020101" pitchFamily="49" charset="-127"/>
              </a:rPr>
              <a:t>정수를 입력하세요: </a:t>
            </a:r>
            <a:r>
              <a:rPr lang="ko-Kore-KR" altLang="en-US" sz="1200">
                <a:solidFill>
                  <a:srgbClr val="0066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10</a:t>
            </a:r>
          </a:p>
          <a:p>
            <a:r>
              <a:rPr lang="ko-Kore-KR" altLang="en-US" sz="1200">
                <a:latin typeface="D2Coding" panose="020B0609020101020101" pitchFamily="49" charset="-127"/>
                <a:ea typeface="D2Coding" panose="020B0609020101020101" pitchFamily="49" charset="-127"/>
              </a:rPr>
              <a:t>정수를 입력하세요: </a:t>
            </a:r>
            <a:r>
              <a:rPr lang="ko-Kore-KR" altLang="en-US" sz="1200">
                <a:solidFill>
                  <a:srgbClr val="0066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0</a:t>
            </a:r>
          </a:p>
          <a:p>
            <a:r>
              <a:rPr lang="ko-Kore-KR" altLang="en-US" sz="1200">
                <a:latin typeface="D2Coding" panose="020B0609020101020101" pitchFamily="49" charset="-127"/>
                <a:ea typeface="D2Coding" panose="020B0609020101020101" pitchFamily="49" charset="-127"/>
              </a:rPr>
              <a:t>합계: 25</a:t>
            </a:r>
          </a:p>
          <a:p>
            <a:r>
              <a:rPr lang="ko-Kore-KR" altLang="en-US" sz="1200">
                <a:latin typeface="D2Coding" panose="020B0609020101020101" pitchFamily="49" charset="-127"/>
                <a:ea typeface="D2Coding" panose="020B0609020101020101" pitchFamily="49" charset="-127"/>
              </a:rPr>
              <a:t>평균: 6.2</a:t>
            </a:r>
            <a:endParaRPr lang="ko-Kore-KR" altLang="en-US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A502358C-8DA2-1805-5209-708D173BA19B}"/>
              </a:ext>
            </a:extLst>
          </p:cNvPr>
          <p:cNvGrpSpPr/>
          <p:nvPr/>
        </p:nvGrpSpPr>
        <p:grpSpPr>
          <a:xfrm>
            <a:off x="10142436" y="3410356"/>
            <a:ext cx="1052558" cy="1175941"/>
            <a:chOff x="10142438" y="2841479"/>
            <a:chExt cx="1052558" cy="1175941"/>
          </a:xfrm>
        </p:grpSpPr>
        <p:sp>
          <p:nvSpPr>
            <p:cNvPr id="9" name="모서리가 둥근 직사각형 8">
              <a:extLst>
                <a:ext uri="{FF2B5EF4-FFF2-40B4-BE49-F238E27FC236}">
                  <a16:creationId xmlns:a16="http://schemas.microsoft.com/office/drawing/2014/main" id="{C16A2559-A093-2EF9-2417-9CA29CCB8DE2}"/>
                </a:ext>
              </a:extLst>
            </p:cNvPr>
            <p:cNvSpPr/>
            <p:nvPr/>
          </p:nvSpPr>
          <p:spPr>
            <a:xfrm>
              <a:off x="10142438" y="3180034"/>
              <a:ext cx="1052558" cy="837386"/>
            </a:xfrm>
            <a:prstGeom prst="roundRect">
              <a:avLst>
                <a:gd name="adj" fmla="val 9649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200" dirty="0"/>
                <a:t>＂</a:t>
              </a:r>
              <a:r>
                <a:rPr kumimoji="1" lang="ko-KR" altLang="en-US" sz="1200" dirty="0"/>
                <a:t>양의 정수 없음</a:t>
              </a:r>
              <a:r>
                <a:rPr kumimoji="1" lang="en-US" altLang="ko-KR" sz="1200" dirty="0"/>
                <a:t>” </a:t>
              </a:r>
              <a:r>
                <a:rPr kumimoji="1" lang="ko-KR" altLang="en-US" sz="1200" dirty="0"/>
                <a:t>출력</a:t>
              </a:r>
              <a:r>
                <a:rPr kumimoji="1" lang="en-US" altLang="ko-KR" sz="1200" dirty="0"/>
                <a:t> </a:t>
              </a:r>
              <a:endParaRPr kumimoji="1" lang="ko-KR" altLang="en-US" sz="1200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6F600A8-1F42-6F55-B8B9-9F844B453FEB}"/>
                </a:ext>
              </a:extLst>
            </p:cNvPr>
            <p:cNvSpPr txBox="1"/>
            <p:nvPr/>
          </p:nvSpPr>
          <p:spPr>
            <a:xfrm>
              <a:off x="10142438" y="2841479"/>
              <a:ext cx="1052557" cy="338554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ko-KR" sz="1600" dirty="0">
                  <a:latin typeface="D2Coding" panose="020B0609020101020101" pitchFamily="49" charset="-127"/>
                  <a:ea typeface="D2Coding" panose="020B0609020101020101" pitchFamily="49" charset="-127"/>
                  <a:cs typeface="Tahoma" pitchFamily="34" charset="0"/>
                </a:rPr>
                <a:t>output1</a:t>
              </a:r>
              <a:endParaRPr kumimoji="1"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cs typeface="Tahoma" pitchFamily="34" charset="0"/>
              </a:endParaRPr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68225A2D-748F-DFBC-DAD7-9B77F1165658}"/>
              </a:ext>
            </a:extLst>
          </p:cNvPr>
          <p:cNvGrpSpPr/>
          <p:nvPr/>
        </p:nvGrpSpPr>
        <p:grpSpPr>
          <a:xfrm>
            <a:off x="1025468" y="2082511"/>
            <a:ext cx="4547714" cy="4188804"/>
            <a:chOff x="2681374" y="1947677"/>
            <a:chExt cx="6355542" cy="4188804"/>
          </a:xfrm>
        </p:grpSpPr>
        <p:sp>
          <p:nvSpPr>
            <p:cNvPr id="14" name="모서리가 둥근 직사각형 13">
              <a:extLst>
                <a:ext uri="{FF2B5EF4-FFF2-40B4-BE49-F238E27FC236}">
                  <a16:creationId xmlns:a16="http://schemas.microsoft.com/office/drawing/2014/main" id="{3AEFDE4D-3ED7-2AA0-7D0B-5B20FB016B9F}"/>
                </a:ext>
              </a:extLst>
            </p:cNvPr>
            <p:cNvSpPr/>
            <p:nvPr/>
          </p:nvSpPr>
          <p:spPr>
            <a:xfrm>
              <a:off x="2681374" y="2286115"/>
              <a:ext cx="6355542" cy="3850366"/>
            </a:xfrm>
            <a:prstGeom prst="roundRect">
              <a:avLst>
                <a:gd name="adj" fmla="val 1020"/>
              </a:avLst>
            </a:prstGeom>
            <a:solidFill>
              <a:schemeClr val="bg1">
                <a:lumMod val="9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6E05EFD-FA43-6FE5-0D33-61DC1962D6E8}"/>
                </a:ext>
              </a:extLst>
            </p:cNvPr>
            <p:cNvSpPr txBox="1"/>
            <p:nvPr/>
          </p:nvSpPr>
          <p:spPr>
            <a:xfrm>
              <a:off x="2681374" y="1947677"/>
              <a:ext cx="6355542" cy="338554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ko-KR" altLang="en-US" sz="1600" dirty="0">
                  <a:latin typeface="D2Coding" panose="020B0609020101020101" pitchFamily="49" charset="-127"/>
                  <a:ea typeface="D2Coding" panose="020B0609020101020101" pitchFamily="49" charset="-127"/>
                  <a:cs typeface="Tahoma" pitchFamily="34" charset="0"/>
                </a:rPr>
                <a:t>반복</a:t>
              </a:r>
              <a:r>
                <a:rPr kumimoji="1" lang="en-US" altLang="ko-KR" sz="1600" dirty="0">
                  <a:latin typeface="D2Coding" panose="020B0609020101020101" pitchFamily="49" charset="-127"/>
                  <a:ea typeface="D2Coding" panose="020B0609020101020101" pitchFamily="49" charset="-127"/>
                  <a:cs typeface="Tahoma" pitchFamily="34" charset="0"/>
                </a:rPr>
                <a:t>(do-while)</a:t>
              </a:r>
              <a:endParaRPr kumimoji="1"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cs typeface="Tahoma" pitchFamily="34" charset="0"/>
              </a:endParaRPr>
            </a:p>
          </p:txBody>
        </p:sp>
      </p:grpSp>
      <p:sp>
        <p:nvSpPr>
          <p:cNvPr id="17" name="모서리가 둥근 직사각형 16">
            <a:extLst>
              <a:ext uri="{FF2B5EF4-FFF2-40B4-BE49-F238E27FC236}">
                <a16:creationId xmlns:a16="http://schemas.microsoft.com/office/drawing/2014/main" id="{6B85C87D-86AB-F2DA-A21C-40D69C3CD089}"/>
              </a:ext>
            </a:extLst>
          </p:cNvPr>
          <p:cNvSpPr/>
          <p:nvPr/>
        </p:nvSpPr>
        <p:spPr>
          <a:xfrm>
            <a:off x="3092976" y="2926566"/>
            <a:ext cx="2215634" cy="510111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4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num</a:t>
            </a:r>
            <a:r>
              <a:rPr kumimoji="1" lang="ko-KR" altLang="en-US" sz="14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값 검사</a:t>
            </a:r>
            <a:r>
              <a:rPr kumimoji="1" lang="en-US" altLang="ko-KR" sz="14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(num &gt; 0)</a:t>
            </a:r>
            <a:endParaRPr kumimoji="1" lang="ko-KR" altLang="en-US" sz="1400" dirty="0">
              <a:solidFill>
                <a:schemeClr val="tx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8" name="모서리가 둥근 직사각형 17">
            <a:extLst>
              <a:ext uri="{FF2B5EF4-FFF2-40B4-BE49-F238E27FC236}">
                <a16:creationId xmlns:a16="http://schemas.microsoft.com/office/drawing/2014/main" id="{07B72097-D08F-7C2D-D15F-0D05F311CC14}"/>
              </a:ext>
            </a:extLst>
          </p:cNvPr>
          <p:cNvSpPr/>
          <p:nvPr/>
        </p:nvSpPr>
        <p:spPr>
          <a:xfrm>
            <a:off x="3092976" y="3961445"/>
            <a:ext cx="2215634" cy="510111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4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sum = sum + num</a:t>
            </a:r>
          </a:p>
          <a:p>
            <a:pPr algn="ctr"/>
            <a:r>
              <a:rPr kumimoji="1" lang="en-US" altLang="ko-KR" sz="14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count </a:t>
            </a:r>
            <a:r>
              <a:rPr kumimoji="1" lang="ko-KR" altLang="en-US" sz="14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변수 값 증가</a:t>
            </a:r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A679B4CB-C13B-76AD-74C6-06816647CE4E}"/>
              </a:ext>
            </a:extLst>
          </p:cNvPr>
          <p:cNvSpPr/>
          <p:nvPr/>
        </p:nvSpPr>
        <p:spPr>
          <a:xfrm>
            <a:off x="5990095" y="2926566"/>
            <a:ext cx="1735691" cy="510111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4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do-while</a:t>
            </a:r>
            <a:r>
              <a:rPr kumimoji="1" lang="ko-KR" altLang="en-US" sz="14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문 종료</a:t>
            </a:r>
          </a:p>
        </p:txBody>
      </p:sp>
      <p:sp>
        <p:nvSpPr>
          <p:cNvPr id="20" name="모서리가 둥근 직사각형 19">
            <a:extLst>
              <a:ext uri="{FF2B5EF4-FFF2-40B4-BE49-F238E27FC236}">
                <a16:creationId xmlns:a16="http://schemas.microsoft.com/office/drawing/2014/main" id="{DDA8C2C7-B5CD-01F1-2738-3219AAF0DE5C}"/>
              </a:ext>
            </a:extLst>
          </p:cNvPr>
          <p:cNvSpPr/>
          <p:nvPr/>
        </p:nvSpPr>
        <p:spPr>
          <a:xfrm>
            <a:off x="8180732" y="3961445"/>
            <a:ext cx="1683452" cy="510111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4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count</a:t>
            </a:r>
            <a:r>
              <a:rPr kumimoji="1" lang="ko-KR" altLang="en-US" sz="14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값이 </a:t>
            </a:r>
            <a:r>
              <a:rPr kumimoji="1" lang="en-US" altLang="ko-KR" sz="14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0</a:t>
            </a:r>
            <a:r>
              <a:rPr kumimoji="1" lang="ko-KR" altLang="en-US" sz="14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이면</a:t>
            </a:r>
          </a:p>
        </p:txBody>
      </p:sp>
      <p:sp>
        <p:nvSpPr>
          <p:cNvPr id="21" name="모서리가 둥근 직사각형 20">
            <a:extLst>
              <a:ext uri="{FF2B5EF4-FFF2-40B4-BE49-F238E27FC236}">
                <a16:creationId xmlns:a16="http://schemas.microsoft.com/office/drawing/2014/main" id="{D68A2453-5061-0ED5-BD33-E4559CDF0842}"/>
              </a:ext>
            </a:extLst>
          </p:cNvPr>
          <p:cNvSpPr/>
          <p:nvPr/>
        </p:nvSpPr>
        <p:spPr>
          <a:xfrm>
            <a:off x="6016214" y="3961445"/>
            <a:ext cx="1683452" cy="510111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4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count </a:t>
            </a:r>
            <a:r>
              <a:rPr kumimoji="1" lang="ko-KR" altLang="en-US" sz="14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값 비교</a:t>
            </a:r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DA251FF0-99DB-A2ED-EA16-CA81455392F5}"/>
              </a:ext>
            </a:extLst>
          </p:cNvPr>
          <p:cNvGrpSpPr/>
          <p:nvPr/>
        </p:nvGrpSpPr>
        <p:grpSpPr>
          <a:xfrm>
            <a:off x="10142437" y="4777581"/>
            <a:ext cx="1052558" cy="1175941"/>
            <a:chOff x="10142438" y="2841479"/>
            <a:chExt cx="1052558" cy="1175941"/>
          </a:xfrm>
        </p:grpSpPr>
        <p:sp>
          <p:nvSpPr>
            <p:cNvPr id="23" name="모서리가 둥근 직사각형 22">
              <a:extLst>
                <a:ext uri="{FF2B5EF4-FFF2-40B4-BE49-F238E27FC236}">
                  <a16:creationId xmlns:a16="http://schemas.microsoft.com/office/drawing/2014/main" id="{B93A429C-B696-A4E1-9BA3-EDC5681F3C23}"/>
                </a:ext>
              </a:extLst>
            </p:cNvPr>
            <p:cNvSpPr/>
            <p:nvPr/>
          </p:nvSpPr>
          <p:spPr>
            <a:xfrm>
              <a:off x="10142438" y="3180034"/>
              <a:ext cx="1052558" cy="837386"/>
            </a:xfrm>
            <a:prstGeom prst="roundRect">
              <a:avLst>
                <a:gd name="adj" fmla="val 9649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400" dirty="0">
                  <a:latin typeface="D2Coding" panose="020B0609020101020101" pitchFamily="49" charset="-127"/>
                  <a:ea typeface="D2Coding" panose="020B0609020101020101" pitchFamily="49" charset="-127"/>
                </a:rPr>
                <a:t>sum,</a:t>
              </a:r>
            </a:p>
            <a:p>
              <a:pPr algn="ctr"/>
              <a:r>
                <a:rPr kumimoji="1" lang="en-US" altLang="ko-KR" sz="1400" dirty="0">
                  <a:latin typeface="D2Coding" panose="020B0609020101020101" pitchFamily="49" charset="-127"/>
                  <a:ea typeface="D2Coding" panose="020B0609020101020101" pitchFamily="49" charset="-127"/>
                </a:rPr>
                <a:t>avg </a:t>
              </a:r>
              <a:r>
                <a:rPr kumimoji="1" lang="ko-KR" altLang="en-US" sz="1400" dirty="0">
                  <a:latin typeface="D2Coding" panose="020B0609020101020101" pitchFamily="49" charset="-127"/>
                  <a:ea typeface="D2Coding" panose="020B0609020101020101" pitchFamily="49" charset="-127"/>
                </a:rPr>
                <a:t>출력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DDD860C6-938C-95D0-8EC7-A6561FAF4E5E}"/>
                </a:ext>
              </a:extLst>
            </p:cNvPr>
            <p:cNvSpPr txBox="1"/>
            <p:nvPr/>
          </p:nvSpPr>
          <p:spPr>
            <a:xfrm>
              <a:off x="10142438" y="2841479"/>
              <a:ext cx="1052557" cy="338554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ko-KR" sz="1600" dirty="0">
                  <a:latin typeface="D2Coding" panose="020B0609020101020101" pitchFamily="49" charset="-127"/>
                  <a:ea typeface="D2Coding" panose="020B0609020101020101" pitchFamily="49" charset="-127"/>
                  <a:cs typeface="Tahoma" pitchFamily="34" charset="0"/>
                </a:rPr>
                <a:t>output2</a:t>
              </a:r>
              <a:endParaRPr kumimoji="1"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cs typeface="Tahoma" pitchFamily="34" charset="0"/>
              </a:endParaRPr>
            </a:p>
          </p:txBody>
        </p:sp>
      </p:grpSp>
      <p:sp>
        <p:nvSpPr>
          <p:cNvPr id="25" name="모서리가 둥근 직사각형 24">
            <a:extLst>
              <a:ext uri="{FF2B5EF4-FFF2-40B4-BE49-F238E27FC236}">
                <a16:creationId xmlns:a16="http://schemas.microsoft.com/office/drawing/2014/main" id="{03371CEA-90F4-0406-EB5F-84211B3B210A}"/>
              </a:ext>
            </a:extLst>
          </p:cNvPr>
          <p:cNvSpPr/>
          <p:nvPr/>
        </p:nvSpPr>
        <p:spPr>
          <a:xfrm>
            <a:off x="3092975" y="5078749"/>
            <a:ext cx="2215634" cy="510111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4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반복</a:t>
            </a:r>
            <a:r>
              <a:rPr kumimoji="1" lang="en-US" altLang="ko-KR" sz="14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 num</a:t>
            </a:r>
            <a:r>
              <a:rPr kumimoji="1" lang="ko-KR" altLang="en-US" sz="14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값 다시 입력</a:t>
            </a:r>
          </a:p>
        </p:txBody>
      </p:sp>
      <p:sp>
        <p:nvSpPr>
          <p:cNvPr id="26" name="모서리가 둥근 직사각형 25">
            <a:extLst>
              <a:ext uri="{FF2B5EF4-FFF2-40B4-BE49-F238E27FC236}">
                <a16:creationId xmlns:a16="http://schemas.microsoft.com/office/drawing/2014/main" id="{BB9A3DB6-4B41-B84A-04D2-2B1D2F244115}"/>
              </a:ext>
            </a:extLst>
          </p:cNvPr>
          <p:cNvSpPr/>
          <p:nvPr/>
        </p:nvSpPr>
        <p:spPr>
          <a:xfrm>
            <a:off x="8137486" y="5078749"/>
            <a:ext cx="1683452" cy="510111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4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avg = sum/count</a:t>
            </a:r>
          </a:p>
          <a:p>
            <a:pPr algn="ctr"/>
            <a:r>
              <a:rPr kumimoji="1" lang="ko-KR" altLang="en-US" sz="14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연산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B10639AF-5561-416C-ED08-D52D2865D8B7}"/>
              </a:ext>
            </a:extLst>
          </p:cNvPr>
          <p:cNvGrpSpPr/>
          <p:nvPr/>
        </p:nvGrpSpPr>
        <p:grpSpPr>
          <a:xfrm>
            <a:off x="1339728" y="3574982"/>
            <a:ext cx="1052559" cy="1150360"/>
            <a:chOff x="1153681" y="2887278"/>
            <a:chExt cx="1052559" cy="1018468"/>
          </a:xfrm>
        </p:grpSpPr>
        <p:sp>
          <p:nvSpPr>
            <p:cNvPr id="6" name="모서리가 둥근 직사각형 5">
              <a:extLst>
                <a:ext uri="{FF2B5EF4-FFF2-40B4-BE49-F238E27FC236}">
                  <a16:creationId xmlns:a16="http://schemas.microsoft.com/office/drawing/2014/main" id="{552182E3-B006-8B56-1BFD-479D7DB4FA29}"/>
                </a:ext>
              </a:extLst>
            </p:cNvPr>
            <p:cNvSpPr/>
            <p:nvPr/>
          </p:nvSpPr>
          <p:spPr>
            <a:xfrm>
              <a:off x="1153682" y="3180033"/>
              <a:ext cx="1052558" cy="725713"/>
            </a:xfrm>
            <a:prstGeom prst="roundRect">
              <a:avLst>
                <a:gd name="adj" fmla="val 9649"/>
              </a:avLst>
            </a:prstGeom>
            <a:solidFill>
              <a:schemeClr val="accent1"/>
            </a:solidFill>
            <a:ln w="6350">
              <a:noFill/>
            </a:ln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400" dirty="0">
                  <a:latin typeface="D2Coding" panose="020B0609020101020101" pitchFamily="49" charset="-127"/>
                  <a:ea typeface="D2Coding" panose="020B0609020101020101" pitchFamily="49" charset="-127"/>
                </a:rPr>
                <a:t>num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9ADA64A-D0EB-D596-D820-DB49E919A7EA}"/>
                </a:ext>
              </a:extLst>
            </p:cNvPr>
            <p:cNvSpPr txBox="1"/>
            <p:nvPr/>
          </p:nvSpPr>
          <p:spPr>
            <a:xfrm>
              <a:off x="1153681" y="2887278"/>
              <a:ext cx="1052557" cy="272489"/>
            </a:xfrm>
            <a:prstGeom prst="rect">
              <a:avLst/>
            </a:prstGeom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ko-KR" sz="1400" dirty="0">
                  <a:latin typeface="D2Coding" panose="020B0609020101020101" pitchFamily="49" charset="-127"/>
                  <a:ea typeface="D2Coding" panose="020B0609020101020101" pitchFamily="49" charset="-127"/>
                  <a:cs typeface="Tahoma" pitchFamily="34" charset="0"/>
                </a:rPr>
                <a:t>input</a:t>
              </a:r>
              <a:endParaRPr kumimoji="1"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Tahoma" pitchFamily="34" charset="0"/>
              </a:endParaRPr>
            </a:p>
          </p:txBody>
        </p:sp>
      </p:grpSp>
      <p:sp>
        <p:nvSpPr>
          <p:cNvPr id="27" name="모서리가 둥근 직사각형 26">
            <a:extLst>
              <a:ext uri="{FF2B5EF4-FFF2-40B4-BE49-F238E27FC236}">
                <a16:creationId xmlns:a16="http://schemas.microsoft.com/office/drawing/2014/main" id="{38C2FC9F-46F2-B229-3D21-8BEE7F28B100}"/>
              </a:ext>
            </a:extLst>
          </p:cNvPr>
          <p:cNvSpPr/>
          <p:nvPr/>
        </p:nvSpPr>
        <p:spPr>
          <a:xfrm>
            <a:off x="6021899" y="5078749"/>
            <a:ext cx="1683452" cy="510111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4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count </a:t>
            </a:r>
            <a:r>
              <a:rPr kumimoji="1" lang="ko-KR" altLang="en-US" sz="14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값이 </a:t>
            </a:r>
            <a:r>
              <a:rPr kumimoji="1" lang="en-US" altLang="ko-KR" sz="14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1</a:t>
            </a:r>
            <a:r>
              <a:rPr kumimoji="1" lang="ko-KR" altLang="en-US" sz="14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이상</a:t>
            </a:r>
          </a:p>
        </p:txBody>
      </p:sp>
      <p:cxnSp>
        <p:nvCxnSpPr>
          <p:cNvPr id="29" name="꺾인 연결선[E] 28">
            <a:extLst>
              <a:ext uri="{FF2B5EF4-FFF2-40B4-BE49-F238E27FC236}">
                <a16:creationId xmlns:a16="http://schemas.microsoft.com/office/drawing/2014/main" id="{B61D61E7-F3C3-3D3C-7549-F1EEE7427CA8}"/>
              </a:ext>
            </a:extLst>
          </p:cNvPr>
          <p:cNvCxnSpPr>
            <a:cxnSpLocks/>
            <a:stCxn id="6" idx="3"/>
            <a:endCxn id="17" idx="1"/>
          </p:cNvCxnSpPr>
          <p:nvPr/>
        </p:nvCxnSpPr>
        <p:spPr>
          <a:xfrm flipV="1">
            <a:off x="2392287" y="3181622"/>
            <a:ext cx="700689" cy="113387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331FF7EA-0CC7-AC21-7B47-F9D75F10A432}"/>
              </a:ext>
            </a:extLst>
          </p:cNvPr>
          <p:cNvCxnSpPr>
            <a:stCxn id="19" idx="2"/>
            <a:endCxn id="21" idx="0"/>
          </p:cNvCxnSpPr>
          <p:nvPr/>
        </p:nvCxnSpPr>
        <p:spPr>
          <a:xfrm flipH="1">
            <a:off x="6857940" y="3436677"/>
            <a:ext cx="1" cy="5247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7750810C-DFCD-A4EC-1B7F-5EDFD465759D}"/>
              </a:ext>
            </a:extLst>
          </p:cNvPr>
          <p:cNvCxnSpPr>
            <a:stCxn id="21" idx="3"/>
            <a:endCxn id="20" idx="1"/>
          </p:cNvCxnSpPr>
          <p:nvPr/>
        </p:nvCxnSpPr>
        <p:spPr>
          <a:xfrm>
            <a:off x="7699666" y="4216501"/>
            <a:ext cx="48106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오른쪽 화살표[R] 36">
            <a:extLst>
              <a:ext uri="{FF2B5EF4-FFF2-40B4-BE49-F238E27FC236}">
                <a16:creationId xmlns:a16="http://schemas.microsoft.com/office/drawing/2014/main" id="{2E9F500E-7FA0-83F4-22D6-2E2521AA6C94}"/>
              </a:ext>
            </a:extLst>
          </p:cNvPr>
          <p:cNvSpPr/>
          <p:nvPr/>
        </p:nvSpPr>
        <p:spPr>
          <a:xfrm>
            <a:off x="9913584" y="4118775"/>
            <a:ext cx="179452" cy="196720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2CDB250D-A092-00E1-D10C-4EC4F48C8C0A}"/>
              </a:ext>
            </a:extLst>
          </p:cNvPr>
          <p:cNvGrpSpPr/>
          <p:nvPr/>
        </p:nvGrpSpPr>
        <p:grpSpPr>
          <a:xfrm>
            <a:off x="5297194" y="2926566"/>
            <a:ext cx="692901" cy="276999"/>
            <a:chOff x="5297194" y="2926566"/>
            <a:chExt cx="692901" cy="276999"/>
          </a:xfrm>
        </p:grpSpPr>
        <p:cxnSp>
          <p:nvCxnSpPr>
            <p:cNvPr id="32" name="직선 화살표 연결선 31">
              <a:extLst>
                <a:ext uri="{FF2B5EF4-FFF2-40B4-BE49-F238E27FC236}">
                  <a16:creationId xmlns:a16="http://schemas.microsoft.com/office/drawing/2014/main" id="{56D3AA2F-907A-B572-D1E3-AB4A7EA214A0}"/>
                </a:ext>
              </a:extLst>
            </p:cNvPr>
            <p:cNvCxnSpPr>
              <a:stCxn id="17" idx="3"/>
              <a:endCxn id="19" idx="1"/>
            </p:cNvCxnSpPr>
            <p:nvPr/>
          </p:nvCxnSpPr>
          <p:spPr>
            <a:xfrm>
              <a:off x="5308610" y="3181622"/>
              <a:ext cx="68148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00CBD4AA-7B9A-82A7-2339-9B3054024BE1}"/>
                </a:ext>
              </a:extLst>
            </p:cNvPr>
            <p:cNvSpPr txBox="1"/>
            <p:nvPr/>
          </p:nvSpPr>
          <p:spPr>
            <a:xfrm>
              <a:off x="5297194" y="2926566"/>
              <a:ext cx="338554" cy="276999"/>
            </a:xfrm>
            <a:prstGeom prst="rect">
              <a:avLst/>
            </a:prstGeom>
          </p:spPr>
          <p:txBody>
            <a:bodyPr wrap="none" rtlCol="0">
              <a:spAutoFit/>
            </a:bodyPr>
            <a:lstStyle/>
            <a:p>
              <a:r>
                <a:rPr kumimoji="1" lang="en-US" altLang="ko-KR" sz="1200" dirty="0">
                  <a:solidFill>
                    <a:srgbClr val="FF0000"/>
                  </a:solidFill>
                  <a:latin typeface="D2Coding" panose="020B0609020101020101" pitchFamily="49" charset="-127"/>
                  <a:ea typeface="D2Coding" panose="020B0609020101020101" pitchFamily="49" charset="-127"/>
                  <a:cs typeface="Tahoma" pitchFamily="34" charset="0"/>
                </a:rPr>
                <a:t>NO</a:t>
              </a:r>
              <a:endParaRPr kumimoji="1" lang="ko-KR" altLang="en-US" sz="12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Tahoma" pitchFamily="34" charset="0"/>
              </a:endParaRPr>
            </a:p>
          </p:txBody>
        </p:sp>
      </p:grp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2765436F-CD89-E199-2CDD-AC2C31CCB3A2}"/>
              </a:ext>
            </a:extLst>
          </p:cNvPr>
          <p:cNvGrpSpPr/>
          <p:nvPr/>
        </p:nvGrpSpPr>
        <p:grpSpPr>
          <a:xfrm>
            <a:off x="4189002" y="3436677"/>
            <a:ext cx="415498" cy="524768"/>
            <a:chOff x="4189002" y="3436677"/>
            <a:chExt cx="415498" cy="524768"/>
          </a:xfrm>
        </p:grpSpPr>
        <p:cxnSp>
          <p:nvCxnSpPr>
            <p:cNvPr id="41" name="직선 화살표 연결선 40">
              <a:extLst>
                <a:ext uri="{FF2B5EF4-FFF2-40B4-BE49-F238E27FC236}">
                  <a16:creationId xmlns:a16="http://schemas.microsoft.com/office/drawing/2014/main" id="{D176E6F6-5420-3ADE-2EE6-A6480FCDA04C}"/>
                </a:ext>
              </a:extLst>
            </p:cNvPr>
            <p:cNvCxnSpPr>
              <a:endCxn id="18" idx="0"/>
            </p:cNvCxnSpPr>
            <p:nvPr/>
          </p:nvCxnSpPr>
          <p:spPr>
            <a:xfrm>
              <a:off x="4200792" y="3436677"/>
              <a:ext cx="1" cy="52476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6370ED8B-C2ED-4C03-B41C-085B8228B042}"/>
                </a:ext>
              </a:extLst>
            </p:cNvPr>
            <p:cNvSpPr txBox="1"/>
            <p:nvPr/>
          </p:nvSpPr>
          <p:spPr>
            <a:xfrm>
              <a:off x="4189002" y="3553233"/>
              <a:ext cx="415498" cy="276999"/>
            </a:xfrm>
            <a:prstGeom prst="rect">
              <a:avLst/>
            </a:prstGeom>
          </p:spPr>
          <p:txBody>
            <a:bodyPr wrap="none" rtlCol="0">
              <a:spAutoFit/>
            </a:bodyPr>
            <a:lstStyle/>
            <a:p>
              <a:r>
                <a:rPr kumimoji="1" lang="en-US" altLang="ko-KR" sz="1200" dirty="0">
                  <a:solidFill>
                    <a:srgbClr val="0066FF"/>
                  </a:solidFill>
                  <a:latin typeface="D2Coding" panose="020B0609020101020101" pitchFamily="49" charset="-127"/>
                  <a:ea typeface="D2Coding" panose="020B0609020101020101" pitchFamily="49" charset="-127"/>
                  <a:cs typeface="Tahoma" pitchFamily="34" charset="0"/>
                </a:rPr>
                <a:t>YES</a:t>
              </a:r>
              <a:endParaRPr kumimoji="1" lang="ko-KR" altLang="en-US" sz="1200" dirty="0">
                <a:solidFill>
                  <a:srgbClr val="0066FF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Tahoma" pitchFamily="34" charset="0"/>
              </a:endParaRPr>
            </a:p>
          </p:txBody>
        </p:sp>
      </p:grp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D270D5F6-F0F6-C9FE-60B3-5214067A098F}"/>
              </a:ext>
            </a:extLst>
          </p:cNvPr>
          <p:cNvCxnSpPr>
            <a:stCxn id="18" idx="2"/>
            <a:endCxn id="25" idx="0"/>
          </p:cNvCxnSpPr>
          <p:nvPr/>
        </p:nvCxnSpPr>
        <p:spPr>
          <a:xfrm flipH="1">
            <a:off x="4200792" y="4471556"/>
            <a:ext cx="1" cy="6071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꺾인 연결선[E] 46">
            <a:extLst>
              <a:ext uri="{FF2B5EF4-FFF2-40B4-BE49-F238E27FC236}">
                <a16:creationId xmlns:a16="http://schemas.microsoft.com/office/drawing/2014/main" id="{9F509178-877D-6BA2-806A-91ED8D46264E}"/>
              </a:ext>
            </a:extLst>
          </p:cNvPr>
          <p:cNvCxnSpPr>
            <a:stCxn id="25" idx="1"/>
            <a:endCxn id="6" idx="2"/>
          </p:cNvCxnSpPr>
          <p:nvPr/>
        </p:nvCxnSpPr>
        <p:spPr>
          <a:xfrm rot="10800000">
            <a:off x="1866009" y="4725343"/>
            <a:ext cx="1226967" cy="60846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D15A14D7-8CEB-B7BE-81C0-C4F72569E413}"/>
              </a:ext>
            </a:extLst>
          </p:cNvPr>
          <p:cNvCxnSpPr>
            <a:endCxn id="19" idx="1"/>
          </p:cNvCxnSpPr>
          <p:nvPr/>
        </p:nvCxnSpPr>
        <p:spPr>
          <a:xfrm>
            <a:off x="5308609" y="3181621"/>
            <a:ext cx="681486" cy="1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E07F1F17-92EF-060F-47BD-2CEF0604459B}"/>
              </a:ext>
            </a:extLst>
          </p:cNvPr>
          <p:cNvCxnSpPr>
            <a:stCxn id="19" idx="2"/>
            <a:endCxn id="21" idx="0"/>
          </p:cNvCxnSpPr>
          <p:nvPr/>
        </p:nvCxnSpPr>
        <p:spPr>
          <a:xfrm flipH="1">
            <a:off x="6857940" y="3436677"/>
            <a:ext cx="1" cy="524768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직선 화살표 연결선 52">
            <a:extLst>
              <a:ext uri="{FF2B5EF4-FFF2-40B4-BE49-F238E27FC236}">
                <a16:creationId xmlns:a16="http://schemas.microsoft.com/office/drawing/2014/main" id="{CEFF47E0-98B8-CD37-7365-BFA7DE9ED5E4}"/>
              </a:ext>
            </a:extLst>
          </p:cNvPr>
          <p:cNvCxnSpPr>
            <a:stCxn id="21" idx="2"/>
            <a:endCxn id="27" idx="0"/>
          </p:cNvCxnSpPr>
          <p:nvPr/>
        </p:nvCxnSpPr>
        <p:spPr>
          <a:xfrm>
            <a:off x="6857940" y="4471556"/>
            <a:ext cx="5685" cy="60719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화살표 연결선 54">
            <a:extLst>
              <a:ext uri="{FF2B5EF4-FFF2-40B4-BE49-F238E27FC236}">
                <a16:creationId xmlns:a16="http://schemas.microsoft.com/office/drawing/2014/main" id="{CCAF9620-FD82-1DEE-B77D-ABF2C3E433F8}"/>
              </a:ext>
            </a:extLst>
          </p:cNvPr>
          <p:cNvCxnSpPr>
            <a:stCxn id="27" idx="3"/>
            <a:endCxn id="26" idx="1"/>
          </p:cNvCxnSpPr>
          <p:nvPr/>
        </p:nvCxnSpPr>
        <p:spPr>
          <a:xfrm>
            <a:off x="7705351" y="5333805"/>
            <a:ext cx="432135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6" name="오른쪽 화살표[R] 55">
            <a:extLst>
              <a:ext uri="{FF2B5EF4-FFF2-40B4-BE49-F238E27FC236}">
                <a16:creationId xmlns:a16="http://schemas.microsoft.com/office/drawing/2014/main" id="{7A0CC585-EECC-F15C-22A2-47983B0F5C88}"/>
              </a:ext>
            </a:extLst>
          </p:cNvPr>
          <p:cNvSpPr/>
          <p:nvPr/>
        </p:nvSpPr>
        <p:spPr>
          <a:xfrm>
            <a:off x="9913584" y="5216056"/>
            <a:ext cx="179452" cy="206734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cxnSp>
        <p:nvCxnSpPr>
          <p:cNvPr id="58" name="꺾인 연결선[E] 57">
            <a:extLst>
              <a:ext uri="{FF2B5EF4-FFF2-40B4-BE49-F238E27FC236}">
                <a16:creationId xmlns:a16="http://schemas.microsoft.com/office/drawing/2014/main" id="{82AC51F5-3D93-90AD-C547-0641C709E916}"/>
              </a:ext>
            </a:extLst>
          </p:cNvPr>
          <p:cNvCxnSpPr>
            <a:cxnSpLocks/>
            <a:stCxn id="6" idx="3"/>
            <a:endCxn id="17" idx="1"/>
          </p:cNvCxnSpPr>
          <p:nvPr/>
        </p:nvCxnSpPr>
        <p:spPr>
          <a:xfrm flipV="1">
            <a:off x="2392287" y="3181622"/>
            <a:ext cx="700689" cy="1133874"/>
          </a:xfrm>
          <a:prstGeom prst="bentConnector3">
            <a:avLst>
              <a:gd name="adj1" fmla="val 50000"/>
            </a:avLst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5455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9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9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9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7" grpId="1" animBg="1"/>
      <p:bldP spid="18" grpId="0" animBg="1"/>
      <p:bldP spid="19" grpId="1" animBg="1"/>
      <p:bldP spid="19" grpId="2" animBg="1"/>
      <p:bldP spid="20" grpId="1" animBg="1"/>
      <p:bldP spid="21" grpId="0" animBg="1"/>
      <p:bldP spid="21" grpId="1" animBg="1"/>
      <p:bldP spid="25" grpId="0" animBg="1"/>
      <p:bldP spid="26" grpId="0" animBg="1"/>
      <p:bldP spid="27" grpId="0" animBg="1"/>
      <p:bldP spid="37" grpId="0" animBg="1"/>
      <p:bldP spid="56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PRESENTER" val="2632489c84d168ce21afdab9955b3694bd2f5c"/>
</p:tagLst>
</file>

<file path=ppt/theme/theme1.xml><?xml version="1.0" encoding="utf-8"?>
<a:theme xmlns:a="http://schemas.openxmlformats.org/drawingml/2006/main" name="Office 테마">
  <a:themeElements>
    <a:clrScheme name="Office 2013 -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/>
      <a:bodyPr/>
      <a:lstStyle>
        <a:defPPr>
          <a:defRPr sz="2000" b="1" dirty="0" smtClean="0">
            <a:solidFill>
              <a:srgbClr val="7030A0"/>
            </a:solidFill>
            <a:latin typeface="맑은 고딕" panose="020B0503020000020004" pitchFamily="50" charset="-127"/>
            <a:ea typeface="맑은 고딕" panose="020B0503020000020004" pitchFamily="50" charset="-127"/>
            <a:cs typeface="Tahoma" pitchFamily="34" charset="0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34890</TotalTime>
  <Words>485</Words>
  <Application>Microsoft Macintosh PowerPoint</Application>
  <PresentationFormat>와이드스크린</PresentationFormat>
  <Paragraphs>84</Paragraphs>
  <Slides>4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4</vt:i4>
      </vt:variant>
    </vt:vector>
  </HeadingPairs>
  <TitlesOfParts>
    <vt:vector size="15" baseType="lpstr">
      <vt:lpstr>나눔고딕 ExtraBold</vt:lpstr>
      <vt:lpstr>맑은 고딕</vt:lpstr>
      <vt:lpstr>Apple SD Gothic Neo</vt:lpstr>
      <vt:lpstr>D2Coding</vt:lpstr>
      <vt:lpstr>Arial</vt:lpstr>
      <vt:lpstr>Chalkboard</vt:lpstr>
      <vt:lpstr>Tahoma</vt:lpstr>
      <vt:lpstr>Wingdings</vt:lpstr>
      <vt:lpstr>Wingdings 2</vt:lpstr>
      <vt:lpstr>Office 테마</vt:lpstr>
      <vt:lpstr>디자인 사용자 지정</vt:lpstr>
      <vt:lpstr>프로그래밍 기초 </vt:lpstr>
      <vt:lpstr>문제 1. 정수 n까지 3의 배수의 합 계산 프로그램: 문제 분해 과정</vt:lpstr>
      <vt:lpstr>문제 3. 성적 계산 프로그램: Decomposition(문제 분해) </vt:lpstr>
      <vt:lpstr>문제 3. 성적 계산 프로그램 (do-while 사용)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프로그래밍 기초</dc:title>
  <dc:subject>Lab</dc:subject>
  <dc:creator>Jung Changsu</dc:creator>
  <cp:keywords/>
  <dc:description/>
  <cp:lastModifiedBy>Changsu Jung</cp:lastModifiedBy>
  <cp:revision>1208</cp:revision>
  <dcterms:created xsi:type="dcterms:W3CDTF">2013-05-23T04:26:30Z</dcterms:created>
  <dcterms:modified xsi:type="dcterms:W3CDTF">2025-09-25T02:35:24Z</dcterms:modified>
  <cp:category/>
</cp:coreProperties>
</file>